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Default Extension="jpg" ContentType="image/jpeg"/>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Arial Black" panose="020B0604020202020204" pitchFamily="34" charset="0"/>
      <p:regular r:id="rId4"/>
      <p:bold r:id="rId5"/>
    </p:embeddedFont>
    <p:embeddedFont>
      <p:font typeface="Calibri" panose="020F0502020204030204" pitchFamily="34" charset="0"/>
      <p:regular r:id="rId6"/>
      <p:bold r:id="rId7"/>
      <p:italic r:id="rId8"/>
      <p:boldItalic r:id="rId9"/>
    </p:embeddedFont>
    <p:embeddedFont>
      <p:font typeface="Trebuchet MS" panose="020B0703020202090204" pitchFamily="34" charset="0"/>
      <p:regular r:id="rId10"/>
      <p:bold r:id="rId11"/>
      <p: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pos="207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 roundtripDataSignature="AMtx7mi6xluHwjP5D9w22+Yl9jF4NRHL/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17376E-9705-47EA-B63B-F1C920135EB2}">
  <a:tblStyle styleId="{B117376E-9705-47EA-B63B-F1C920135EB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4"/>
    <p:restoredTop sz="94699"/>
  </p:normalViewPr>
  <p:slideViewPr>
    <p:cSldViewPr snapToGrid="0">
      <p:cViewPr>
        <p:scale>
          <a:sx n="56" d="100"/>
          <a:sy n="56" d="100"/>
        </p:scale>
        <p:origin x="-6376" y="184"/>
      </p:cViewPr>
      <p:guideLst>
        <p:guide orient="horz" pos="3318"/>
        <p:guide orient="horz" pos="288"/>
        <p:guide orient="horz" pos="20160"/>
        <p:guide orient="horz"/>
        <p:guide pos="581"/>
        <p:guide pos="27069"/>
        <p:guide pos="2074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customschemas.google.com/relationships/presentationmetadata" Target="metadata"/><Relationship Id="rId1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19" Type="http://schemas.openxmlformats.org/officeDocument/2006/relationships/customXml" Target="../customXml/item2.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dirty="0"/>
          </a:p>
        </p:txBody>
      </p:sp>
      <p:sp>
        <p:nvSpPr>
          <p:cNvPr id="42" name="Google Shape;4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tandard 4 columns">
  <p:cSld name="Standard 4 columns">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459674" y="6378481"/>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2"/>
          </p:nvPr>
        </p:nvSpPr>
        <p:spPr>
          <a:xfrm>
            <a:off x="477827" y="5548749"/>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body" idx="3"/>
          </p:nvPr>
        </p:nvSpPr>
        <p:spPr>
          <a:xfrm>
            <a:off x="477825" y="14212513"/>
            <a:ext cx="10050462"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body" idx="4"/>
          </p:nvPr>
        </p:nvSpPr>
        <p:spPr>
          <a:xfrm>
            <a:off x="11460161"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5"/>
          </p:nvPr>
        </p:nvSpPr>
        <p:spPr>
          <a:xfrm>
            <a:off x="11460162" y="5548749"/>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body" idx="6"/>
          </p:nvPr>
        </p:nvSpPr>
        <p:spPr>
          <a:xfrm>
            <a:off x="22385344"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8" name="Google Shape;28;p3"/>
          <p:cNvSpPr txBox="1">
            <a:spLocks noGrp="1"/>
          </p:cNvSpPr>
          <p:nvPr>
            <p:ph type="body" idx="7"/>
          </p:nvPr>
        </p:nvSpPr>
        <p:spPr>
          <a:xfrm>
            <a:off x="22377405" y="5548749"/>
            <a:ext cx="10058400"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9" name="Google Shape;29;p3"/>
          <p:cNvSpPr txBox="1">
            <a:spLocks noGrp="1"/>
          </p:cNvSpPr>
          <p:nvPr>
            <p:ph type="body" idx="8"/>
          </p:nvPr>
        </p:nvSpPr>
        <p:spPr>
          <a:xfrm>
            <a:off x="33390291" y="5548749"/>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body" idx="9"/>
          </p:nvPr>
        </p:nvSpPr>
        <p:spPr>
          <a:xfrm>
            <a:off x="33390291" y="6378481"/>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1" name="Google Shape;31;p3"/>
          <p:cNvSpPr txBox="1">
            <a:spLocks noGrp="1"/>
          </p:cNvSpPr>
          <p:nvPr>
            <p:ph type="body" idx="13"/>
          </p:nvPr>
        </p:nvSpPr>
        <p:spPr>
          <a:xfrm>
            <a:off x="33390291" y="14272738"/>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2" name="Google Shape;32;p3"/>
          <p:cNvSpPr txBox="1">
            <a:spLocks noGrp="1"/>
          </p:cNvSpPr>
          <p:nvPr>
            <p:ph type="body" idx="14"/>
          </p:nvPr>
        </p:nvSpPr>
        <p:spPr>
          <a:xfrm>
            <a:off x="33390291" y="15011402"/>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3" name="Google Shape;33;p3"/>
          <p:cNvSpPr txBox="1">
            <a:spLocks noGrp="1"/>
          </p:cNvSpPr>
          <p:nvPr>
            <p:ph type="body" idx="15"/>
          </p:nvPr>
        </p:nvSpPr>
        <p:spPr>
          <a:xfrm>
            <a:off x="33390291" y="25679402"/>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4" name="Google Shape;34;p3"/>
          <p:cNvSpPr txBox="1">
            <a:spLocks noGrp="1"/>
          </p:cNvSpPr>
          <p:nvPr>
            <p:ph type="body" idx="16"/>
          </p:nvPr>
        </p:nvSpPr>
        <p:spPr>
          <a:xfrm>
            <a:off x="33390291" y="26433447"/>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5" name="Google Shape;35;p3"/>
          <p:cNvSpPr txBox="1">
            <a:spLocks noGrp="1"/>
          </p:cNvSpPr>
          <p:nvPr>
            <p:ph type="body" idx="17"/>
          </p:nvPr>
        </p:nvSpPr>
        <p:spPr>
          <a:xfrm>
            <a:off x="459674" y="14951552"/>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6" name="Google Shape;36;p3"/>
          <p:cNvSpPr txBox="1">
            <a:spLocks noGrp="1"/>
          </p:cNvSpPr>
          <p:nvPr>
            <p:ph type="body" idx="18"/>
          </p:nvPr>
        </p:nvSpPr>
        <p:spPr>
          <a:xfrm>
            <a:off x="5932593" y="3383947"/>
            <a:ext cx="31998968" cy="128016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100000"/>
              </a:lnSpc>
              <a:spcBef>
                <a:spcPts val="1080"/>
              </a:spcBef>
              <a:spcAft>
                <a:spcPts val="0"/>
              </a:spcAft>
              <a:buClr>
                <a:srgbClr val="1F3864"/>
              </a:buClr>
              <a:buSzPts val="5400"/>
              <a:buFont typeface="Arial"/>
              <a:buNone/>
              <a:defRPr sz="5400" b="0" i="0" u="none" strike="noStrike" cap="none">
                <a:solidFill>
                  <a:srgbClr val="1F3864"/>
                </a:solidFill>
                <a:latin typeface="Calibri"/>
                <a:ea typeface="Calibri"/>
                <a:cs typeface="Calibri"/>
                <a:sym typeface="Calibri"/>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7" name="Google Shape;37;p3"/>
          <p:cNvSpPr txBox="1">
            <a:spLocks noGrp="1"/>
          </p:cNvSpPr>
          <p:nvPr>
            <p:ph type="body" idx="19"/>
          </p:nvPr>
        </p:nvSpPr>
        <p:spPr>
          <a:xfrm>
            <a:off x="5932593" y="2103787"/>
            <a:ext cx="31998968" cy="1280160"/>
          </a:xfrm>
          <a:prstGeom prst="rect">
            <a:avLst/>
          </a:prstGeom>
          <a:noFill/>
          <a:ln>
            <a:noFill/>
          </a:ln>
        </p:spPr>
        <p:txBody>
          <a:bodyPr spcFirstLastPara="1" wrap="square" lIns="91425" tIns="45700" rIns="91425" bIns="45700" anchor="t" anchorCtr="1">
            <a:normAutofit/>
          </a:bodyPr>
          <a:lstStyle>
            <a:lvl1pPr marL="457200" marR="0" lvl="0" indent="-228600" algn="ctr" rtl="0">
              <a:lnSpc>
                <a:spcPct val="100000"/>
              </a:lnSpc>
              <a:spcBef>
                <a:spcPts val="1600"/>
              </a:spcBef>
              <a:spcAft>
                <a:spcPts val="0"/>
              </a:spcAft>
              <a:buClr>
                <a:srgbClr val="1F3864"/>
              </a:buClr>
              <a:buSzPts val="8000"/>
              <a:buFont typeface="Arial"/>
              <a:buNone/>
              <a:defRPr sz="8000" b="0" i="0" u="none" strike="noStrike" cap="none">
                <a:solidFill>
                  <a:srgbClr val="1F3864"/>
                </a:solidFill>
                <a:latin typeface="Calibri"/>
                <a:ea typeface="Calibri"/>
                <a:cs typeface="Calibri"/>
                <a:sym typeface="Calibri"/>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8" name="Google Shape;38;p3"/>
          <p:cNvSpPr txBox="1">
            <a:spLocks noGrp="1"/>
          </p:cNvSpPr>
          <p:nvPr>
            <p:ph type="body" idx="20"/>
          </p:nvPr>
        </p:nvSpPr>
        <p:spPr>
          <a:xfrm>
            <a:off x="5932593" y="465813"/>
            <a:ext cx="31998968" cy="1637973"/>
          </a:xfrm>
          <a:prstGeom prst="rect">
            <a:avLst/>
          </a:prstGeom>
          <a:noFill/>
          <a:ln>
            <a:noFill/>
          </a:ln>
        </p:spPr>
        <p:txBody>
          <a:bodyPr spcFirstLastPara="1" wrap="square" lIns="91425" tIns="45700" rIns="91425" bIns="45700" anchor="t" anchorCtr="1">
            <a:normAutofit/>
          </a:bodyPr>
          <a:lstStyle>
            <a:lvl1pPr marL="457200" marR="0" lvl="0" indent="-228600" algn="ctr" rtl="0">
              <a:lnSpc>
                <a:spcPct val="100000"/>
              </a:lnSpc>
              <a:spcBef>
                <a:spcPts val="1920"/>
              </a:spcBef>
              <a:spcAft>
                <a:spcPts val="0"/>
              </a:spcAft>
              <a:buClr>
                <a:srgbClr val="1F3864"/>
              </a:buClr>
              <a:buSzPts val="9600"/>
              <a:buFont typeface="Arial"/>
              <a:buNone/>
              <a:defRPr sz="9600" b="1" i="0" u="none" strike="noStrike" cap="none">
                <a:solidFill>
                  <a:srgbClr val="1F3864"/>
                </a:solidFill>
                <a:latin typeface="Calibri"/>
                <a:ea typeface="Calibri"/>
                <a:cs typeface="Calibri"/>
                <a:sym typeface="Calibri"/>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rot="10800000">
            <a:off x="1" y="31869602"/>
            <a:ext cx="43891199" cy="1042617"/>
          </a:xfrm>
          <a:prstGeom prst="rect">
            <a:avLst/>
          </a:prstGeom>
          <a:gradFill>
            <a:gsLst>
              <a:gs pos="0">
                <a:srgbClr val="98C2F5"/>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1" name="Google Shape;11;p2"/>
          <p:cNvSpPr/>
          <p:nvPr/>
        </p:nvSpPr>
        <p:spPr>
          <a:xfrm>
            <a:off x="446073" y="5475145"/>
            <a:ext cx="10058400" cy="26736674"/>
          </a:xfrm>
          <a:prstGeom prst="roundRect">
            <a:avLst>
              <a:gd name="adj" fmla="val 1956"/>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2" name="Google Shape;12;p2"/>
          <p:cNvSpPr/>
          <p:nvPr/>
        </p:nvSpPr>
        <p:spPr>
          <a:xfrm>
            <a:off x="11428937" y="5475142"/>
            <a:ext cx="10058400" cy="26736674"/>
          </a:xfrm>
          <a:prstGeom prst="roundRect">
            <a:avLst>
              <a:gd name="adj" fmla="val 1956"/>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3" name="Google Shape;13;p2"/>
          <p:cNvSpPr/>
          <p:nvPr/>
        </p:nvSpPr>
        <p:spPr>
          <a:xfrm>
            <a:off x="22411802" y="5475143"/>
            <a:ext cx="10058400" cy="26736674"/>
          </a:xfrm>
          <a:prstGeom prst="roundRect">
            <a:avLst>
              <a:gd name="adj" fmla="val 1956"/>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4" name="Google Shape;14;p2"/>
          <p:cNvSpPr/>
          <p:nvPr/>
        </p:nvSpPr>
        <p:spPr>
          <a:xfrm>
            <a:off x="33394663" y="5475144"/>
            <a:ext cx="10058400" cy="26736674"/>
          </a:xfrm>
          <a:prstGeom prst="roundRect">
            <a:avLst>
              <a:gd name="adj" fmla="val 1956"/>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5" name="Google Shape;15;p2"/>
          <p:cNvSpPr/>
          <p:nvPr/>
        </p:nvSpPr>
        <p:spPr>
          <a:xfrm>
            <a:off x="0" y="0"/>
            <a:ext cx="43891199" cy="480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600"/>
              <a:buFont typeface="Arial"/>
              <a:buNone/>
            </a:pPr>
            <a:endParaRPr sz="8600" b="0" i="0" u="none" strike="noStrike" cap="none">
              <a:solidFill>
                <a:schemeClr val="dk1"/>
              </a:solidFill>
              <a:latin typeface="Calibri"/>
              <a:ea typeface="Calibri"/>
              <a:cs typeface="Calibri"/>
              <a:sym typeface="Calibri"/>
            </a:endParaRPr>
          </a:p>
        </p:txBody>
      </p:sp>
      <p:sp>
        <p:nvSpPr>
          <p:cNvPr id="16" name="Google Shape;16;p2"/>
          <p:cNvSpPr txBox="1"/>
          <p:nvPr/>
        </p:nvSpPr>
        <p:spPr>
          <a:xfrm>
            <a:off x="1567305" y="32390909"/>
            <a:ext cx="2514600" cy="341436"/>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BFBFBF"/>
                </a:solidFill>
                <a:latin typeface="Arial"/>
                <a:ea typeface="Arial"/>
                <a:cs typeface="Arial"/>
                <a:sym typeface="Arial"/>
              </a:rPr>
              <a:t>RESEARCH POSTER PRESENTATION DESIGN © 2019</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550"/>
              </a:spcBef>
              <a:spcAft>
                <a:spcPts val="0"/>
              </a:spcAft>
              <a:buClr>
                <a:srgbClr val="000000"/>
              </a:buClr>
              <a:buSzPts val="1100"/>
              <a:buFont typeface="Arial"/>
              <a:buNone/>
            </a:pPr>
            <a:r>
              <a:rPr lang="en-US" sz="1100" b="1" i="0" u="none" strike="noStrike" cap="none">
                <a:solidFill>
                  <a:srgbClr val="BFBFBF"/>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0" y="-55065"/>
            <a:ext cx="43891199" cy="1042617"/>
          </a:xfrm>
          <a:prstGeom prst="rect">
            <a:avLst/>
          </a:prstGeom>
          <a:gradFill>
            <a:gsLst>
              <a:gs pos="0">
                <a:srgbClr val="98C2F5"/>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sp>
        <p:nvSpPr>
          <p:cNvPr id="18" name="Google Shape;18;p2"/>
          <p:cNvSpPr/>
          <p:nvPr/>
        </p:nvSpPr>
        <p:spPr>
          <a:xfrm>
            <a:off x="6096" y="4742487"/>
            <a:ext cx="43891199" cy="274521"/>
          </a:xfrm>
          <a:prstGeom prst="rect">
            <a:avLst/>
          </a:prstGeom>
          <a:gradFill>
            <a:gsLst>
              <a:gs pos="0">
                <a:srgbClr val="98C2F5"/>
              </a:gs>
              <a:gs pos="51000">
                <a:schemeClr val="lt1"/>
              </a:gs>
              <a:gs pos="100000">
                <a:srgbClr val="DAE9F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600"/>
              <a:buFont typeface="Arial"/>
              <a:buNone/>
            </a:pPr>
            <a:endParaRPr sz="8600" b="0" i="0" u="none" strike="noStrike" cap="none">
              <a:solidFill>
                <a:schemeClr val="lt1"/>
              </a:solidFill>
              <a:latin typeface="Calibri"/>
              <a:ea typeface="Calibri"/>
              <a:cs typeface="Calibri"/>
              <a:sym typeface="Calibri"/>
            </a:endParaRPr>
          </a:p>
        </p:txBody>
      </p:sp>
      <p:graphicFrame>
        <p:nvGraphicFramePr>
          <p:cNvPr id="19" name="Google Shape;19;p2"/>
          <p:cNvGraphicFramePr/>
          <p:nvPr/>
        </p:nvGraphicFramePr>
        <p:xfrm>
          <a:off x="-10611120" y="14098"/>
          <a:ext cx="9776875" cy="32679250"/>
        </p:xfrm>
        <a:graphic>
          <a:graphicData uri="http://schemas.openxmlformats.org/drawingml/2006/table">
            <a:tbl>
              <a:tblPr firstRow="1" bandRow="1">
                <a:noFill/>
                <a:tableStyleId>{B117376E-9705-47EA-B63B-F1C920135EB2}</a:tableStyleId>
              </a:tblPr>
              <a:tblGrid>
                <a:gridCol w="4192250">
                  <a:extLst>
                    <a:ext uri="{9D8B030D-6E8A-4147-A177-3AD203B41FA5}">
                      <a16:colId xmlns:a16="http://schemas.microsoft.com/office/drawing/2014/main" val="20000"/>
                    </a:ext>
                  </a:extLst>
                </a:gridCol>
                <a:gridCol w="5584625">
                  <a:extLst>
                    <a:ext uri="{9D8B030D-6E8A-4147-A177-3AD203B41FA5}">
                      <a16:colId xmlns:a16="http://schemas.microsoft.com/office/drawing/2014/main" val="20001"/>
                    </a:ext>
                  </a:extLst>
                </a:gridCol>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5">
                <a:tc gridSpan="2">
                  <a:txBody>
                    <a:bodyPr/>
                    <a:lstStyle/>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sz="1400" u="none" strike="noStrike" cap="none"/>
                    </a:p>
                    <a:p>
                      <a:pPr marL="0" marR="0" lvl="0" indent="0" algn="l" rtl="0">
                        <a:lnSpc>
                          <a:spcPct val="100000"/>
                        </a:lnSpc>
                        <a:spcBef>
                          <a:spcPts val="0"/>
                        </a:spcBef>
                        <a:spcAft>
                          <a:spcPts val="0"/>
                        </a:spcAft>
                        <a:buClr>
                          <a:srgbClr val="000000"/>
                        </a:buClr>
                        <a:buSzPts val="2000"/>
                        <a:buFont typeface="Arial"/>
                        <a:buNone/>
                      </a:pPr>
                      <a:endParaRPr sz="200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sz="1400" u="none" strike="noStrike" cap="none"/>
                    </a:p>
                    <a:p>
                      <a:pPr marL="0" marR="0" lvl="0" indent="0" algn="l" rtl="0">
                        <a:lnSpc>
                          <a:spcPct val="100000"/>
                        </a:lnSpc>
                        <a:spcBef>
                          <a:spcPts val="0"/>
                        </a:spcBef>
                        <a:spcAft>
                          <a:spcPts val="0"/>
                        </a:spcAft>
                        <a:buClr>
                          <a:srgbClr val="000000"/>
                        </a:buClr>
                        <a:buSzPts val="2000"/>
                        <a:buFont typeface="Arial"/>
                        <a:buNone/>
                      </a:pPr>
                      <a:endParaRPr sz="200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4572425">
                <a:tc>
                  <a:txBody>
                    <a:bodyPr/>
                    <a:lstStyle/>
                    <a:p>
                      <a:pPr marL="0" marR="0" lvl="0" indent="0" algn="ctr"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p>
                      <a:pPr marL="0" marR="0" lvl="0" indent="0" algn="ctr"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Arial"/>
                          <a:ea typeface="Arial"/>
                          <a:cs typeface="Arial"/>
                          <a:sym typeface="Arial"/>
                        </a:rPr>
                        <a:t>This is a template for a </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2"/>
                  </a:ext>
                </a:extLst>
              </a:tr>
              <a:tr h="4288700">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How to </a:t>
                      </a:r>
                      <a:r>
                        <a:rPr lang="en-US" sz="4000" b="1" u="none" strike="noStrike" cap="none">
                          <a:solidFill>
                            <a:srgbClr val="FFC000"/>
                          </a:solidFill>
                          <a:latin typeface="Arial"/>
                          <a:ea typeface="Arial"/>
                          <a:cs typeface="Arial"/>
                          <a:sym typeface="Arial"/>
                        </a:rPr>
                        <a:t>Zoom in </a:t>
                      </a:r>
                      <a:r>
                        <a:rPr lang="en-US" sz="2400" b="1" u="none" strike="noStrike" cap="none">
                          <a:solidFill>
                            <a:srgbClr val="FFC000"/>
                          </a:solidFill>
                          <a:latin typeface="Arial"/>
                          <a:ea typeface="Arial"/>
                          <a:cs typeface="Arial"/>
                          <a:sym typeface="Arial"/>
                        </a:rPr>
                        <a:t>and </a:t>
                      </a:r>
                      <a:r>
                        <a:rPr lang="en-US" sz="1800" b="1" u="none" strike="noStrike" cap="none">
                          <a:solidFill>
                            <a:srgbClr val="FFC000"/>
                          </a:solidFill>
                          <a:latin typeface="Arial"/>
                          <a:ea typeface="Arial"/>
                          <a:cs typeface="Arial"/>
                          <a:sym typeface="Arial"/>
                        </a:rPr>
                        <a:t>out</a:t>
                      </a:r>
                      <a:endParaRPr sz="2400" b="1" u="none" strike="noStrike" cap="none">
                        <a:solidFill>
                          <a:srgbClr val="FFC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u="none" strike="noStrike" cap="none">
                          <a:solidFill>
                            <a:srgbClr val="D9D9D9"/>
                          </a:solidFill>
                          <a:latin typeface="Arial"/>
                          <a:ea typeface="Arial"/>
                          <a:cs typeface="Arial"/>
                          <a:sym typeface="Arial"/>
                        </a:rPr>
                        <a:t>Use the PowerPoint zoom tool to adjust the screen magnification to view comfortably. PowerPoint provides 2 ways to zoom: </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1. </a:t>
                      </a:r>
                      <a:r>
                        <a:rPr lang="en-US" sz="2000" b="0" u="none" strike="noStrike" cap="none">
                          <a:solidFill>
                            <a:srgbClr val="D9D9D9"/>
                          </a:solidFill>
                          <a:latin typeface="Arial"/>
                          <a:ea typeface="Arial"/>
                          <a:cs typeface="Arial"/>
                          <a:sym typeface="Arial"/>
                        </a:rPr>
                        <a:t>On the top menu bar click on the VIEW tab and then click on ZOOM. Choose the zoom percentage that works best for you. </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2. </a:t>
                      </a:r>
                      <a:r>
                        <a:rPr lang="en-US" sz="2000" b="0" u="none" strike="noStrike" cap="none">
                          <a:solidFill>
                            <a:srgbClr val="D9D9D9"/>
                          </a:solidFill>
                          <a:latin typeface="Arial"/>
                          <a:ea typeface="Arial"/>
                          <a:cs typeface="Arial"/>
                          <a:sym typeface="Arial"/>
                        </a:rPr>
                        <a:t>For better zoom flexibility, use the zoom slider at the bottom right of the window.</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3"/>
                  </a:ext>
                </a:extLst>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Ruler and Guides</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sz="1400" u="none" strike="noStrike" cap="none"/>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3824350">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txBody>
                  <a:tcPr marL="91450" marR="91450" marT="45725" marB="45725"/>
                </a:tc>
                <a:tc>
                  <a:txBody>
                    <a:bodyPr/>
                    <a:lstStyle/>
                    <a:p>
                      <a:pPr marL="0" marR="0" lvl="1"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Headers and text containers</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5"/>
                  </a:ext>
                </a:extLst>
              </a:tr>
              <a:tr h="3519125">
                <a:tc gridSpan="2">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Adding content to the poster</a:t>
                      </a:r>
                      <a:endParaRPr sz="1400" u="none" strike="noStrike" cap="none"/>
                    </a:p>
                    <a:p>
                      <a:pPr marL="0" marR="0" lvl="0" indent="0" algn="l"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sz="1400" u="none" strike="noStrike" cap="none"/>
                    </a:p>
                    <a:p>
                      <a:pPr marL="342900" marR="0" lvl="0" indent="-342900" algn="l" rtl="0">
                        <a:lnSpc>
                          <a:spcPct val="100000"/>
                        </a:lnSpc>
                        <a:spcBef>
                          <a:spcPts val="0"/>
                        </a:spcBef>
                        <a:spcAft>
                          <a:spcPts val="0"/>
                        </a:spcAft>
                        <a:buClr>
                          <a:srgbClr val="D9D9D9"/>
                        </a:buClr>
                        <a:buSzPts val="2000"/>
                        <a:buFont typeface="Arial"/>
                        <a:buChar char="-"/>
                      </a:pPr>
                      <a:r>
                        <a:rPr lang="en-US" sz="2000" u="none" strike="noStrike" cap="none">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u="none" strike="noStrike" cap="none">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Photos</a:t>
                      </a:r>
                      <a:endParaRPr sz="1400" u="none" strike="noStrike" cap="none"/>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sz="1400" u="none" strike="noStrike" cap="none"/>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293175">
                <a:tc gridSpan="2">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Quality check your graphics</a:t>
                      </a:r>
                      <a:endParaRPr sz="1400" u="none" strike="noStrike" cap="none"/>
                    </a:p>
                    <a:p>
                      <a:pPr marL="0" marR="0" lvl="0" indent="0" algn="l" rtl="0">
                        <a:lnSpc>
                          <a:spcPct val="100000"/>
                        </a:lnSpc>
                        <a:spcBef>
                          <a:spcPts val="0"/>
                        </a:spcBef>
                        <a:spcAft>
                          <a:spcPts val="0"/>
                        </a:spcAft>
                        <a:buClr>
                          <a:srgbClr val="D9D9D9"/>
                        </a:buClr>
                        <a:buSzPts val="2000"/>
                        <a:buFont typeface="Arial"/>
                        <a:buNone/>
                      </a:pPr>
                      <a:r>
                        <a:rPr lang="en-US" sz="2000" u="none" strike="noStrike" cap="none">
                          <a:solidFill>
                            <a:srgbClr val="D9D9D9"/>
                          </a:solidFill>
                          <a:latin typeface="Arial"/>
                          <a:ea typeface="Arial"/>
                          <a:cs typeface="Arial"/>
                          <a:sym typeface="Arial"/>
                        </a:rPr>
                        <a:t>Zoom in and look at your images at 100%-200% magnification. If they look clear, they will print well. </a:t>
                      </a:r>
                      <a:endParaRPr sz="1400" u="none" strike="noStrike" cap="none"/>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u="none" strike="noStrike" cap="none">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20" name="Google Shape;20;p2"/>
          <p:cNvGraphicFramePr/>
          <p:nvPr/>
        </p:nvGraphicFramePr>
        <p:xfrm>
          <a:off x="44695228" y="-84749"/>
          <a:ext cx="9430175" cy="33075050"/>
        </p:xfrm>
        <a:graphic>
          <a:graphicData uri="http://schemas.openxmlformats.org/drawingml/2006/table">
            <a:tbl>
              <a:tblPr firstRow="1" bandRow="1">
                <a:noFill/>
                <a:tableStyleId>{B117376E-9705-47EA-B63B-F1C920135EB2}</a:tableStyleId>
              </a:tblPr>
              <a:tblGrid>
                <a:gridCol w="3343825">
                  <a:extLst>
                    <a:ext uri="{9D8B030D-6E8A-4147-A177-3AD203B41FA5}">
                      <a16:colId xmlns:a16="http://schemas.microsoft.com/office/drawing/2014/main" val="20000"/>
                    </a:ext>
                  </a:extLst>
                </a:gridCol>
                <a:gridCol w="1381550">
                  <a:extLst>
                    <a:ext uri="{9D8B030D-6E8A-4147-A177-3AD203B41FA5}">
                      <a16:colId xmlns:a16="http://schemas.microsoft.com/office/drawing/2014/main" val="20001"/>
                    </a:ext>
                  </a:extLst>
                </a:gridCol>
                <a:gridCol w="4704800">
                  <a:extLst>
                    <a:ext uri="{9D8B030D-6E8A-4147-A177-3AD203B41FA5}">
                      <a16:colId xmlns:a16="http://schemas.microsoft.com/office/drawing/2014/main" val="20002"/>
                    </a:ext>
                  </a:extLst>
                </a:gridCol>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u="none" strike="noStrike" cap="none">
                          <a:solidFill>
                            <a:srgbClr val="1F3A4E"/>
                          </a:solidFill>
                          <a:latin typeface="Arial Black"/>
                          <a:ea typeface="Arial Black"/>
                          <a:cs typeface="Arial Black"/>
                          <a:sym typeface="Arial Black"/>
                        </a:rPr>
                        <a:t>QUICK START GUIDE</a:t>
                      </a:r>
                      <a:br>
                        <a:rPr lang="en-US" sz="4000" b="0" u="none" strike="noStrike" cap="none">
                          <a:solidFill>
                            <a:srgbClr val="1F3A4E"/>
                          </a:solidFill>
                          <a:latin typeface="Arial Black"/>
                          <a:ea typeface="Arial Black"/>
                          <a:cs typeface="Arial Black"/>
                          <a:sym typeface="Arial Black"/>
                        </a:rPr>
                      </a:br>
                      <a:r>
                        <a:rPr lang="en-US" sz="3200" b="1" u="none" strike="noStrike" cap="none">
                          <a:solidFill>
                            <a:srgbClr val="FF0000"/>
                          </a:solidFill>
                          <a:latin typeface="Trebuchet MS"/>
                          <a:ea typeface="Trebuchet MS"/>
                          <a:cs typeface="Trebuchet MS"/>
                          <a:sym typeface="Trebuchet MS"/>
                        </a:rPr>
                        <a:t>(THIS SIDEBAR WILL NOT PRINT)</a:t>
                      </a:r>
                      <a:endParaRPr sz="40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0">
                <a:tc gridSpan="3">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change the template colors</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strike="noStrike" cap="none">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sz="2400" u="none" strike="noStrike" cap="none">
                        <a:solidFill>
                          <a:srgbClr val="FFC000"/>
                        </a:solidFill>
                      </a:endParaRPr>
                    </a:p>
                    <a:p>
                      <a:pPr marL="0" marR="0" lvl="0" indent="0" algn="l" rtl="0">
                        <a:lnSpc>
                          <a:spcPct val="100000"/>
                        </a:lnSpc>
                        <a:spcBef>
                          <a:spcPts val="0"/>
                        </a:spcBef>
                        <a:spcAft>
                          <a:spcPts val="0"/>
                        </a:spcAft>
                        <a:buClr>
                          <a:srgbClr val="000000"/>
                        </a:buClr>
                        <a:buSzPts val="2400"/>
                        <a:buFont typeface="Arial"/>
                        <a:buNone/>
                      </a:pPr>
                      <a:endParaRPr sz="2400" b="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sz="1400" u="none" strike="noStrike" cap="none"/>
                    </a:p>
                    <a:p>
                      <a:pPr marL="0" marR="0" lvl="0" indent="0" algn="l" rtl="0">
                        <a:lnSpc>
                          <a:spcPct val="100000"/>
                        </a:lnSpc>
                        <a:spcBef>
                          <a:spcPts val="0"/>
                        </a:spcBef>
                        <a:spcAft>
                          <a:spcPts val="0"/>
                        </a:spcAft>
                        <a:buClr>
                          <a:srgbClr val="000000"/>
                        </a:buClr>
                        <a:buSzPts val="2400"/>
                        <a:buFont typeface="Arial"/>
                        <a:buNone/>
                      </a:pPr>
                      <a:endParaRPr sz="2400" b="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After you finish working on the SLIDE MASTER, it is important that you go to VIEW &gt; NORMAL to continue working on your poster. </a:t>
                      </a:r>
                      <a:endParaRPr sz="1400" u="none" strike="noStrike" cap="none"/>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7725">
                <a:tc gridSpan="3">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change the column layout configuration</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You can see a tutorial here: </a:t>
                      </a:r>
                      <a:r>
                        <a:rPr lang="en-US" sz="2400" u="sng" strike="noStrike" cap="none">
                          <a:solidFill>
                            <a:srgbClr val="FFC000"/>
                          </a:solidFill>
                          <a:latin typeface="Arial"/>
                          <a:ea typeface="Arial"/>
                          <a:cs typeface="Arial"/>
                          <a:sym typeface="Arial"/>
                        </a:rPr>
                        <a:t>https://www.posterpresentations.com/how-to-change-the-column-configuration.html</a:t>
                      </a:r>
                      <a:endParaRPr sz="8600" u="sng" strike="noStrike" cap="none">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u="none" strike="noStrike" cap="none">
                          <a:solidFill>
                            <a:srgbClr val="FFC000"/>
                          </a:solidFill>
                          <a:latin typeface="Arial"/>
                          <a:ea typeface="Arial"/>
                          <a:cs typeface="Arial"/>
                          <a:sym typeface="Arial"/>
                        </a:rPr>
                        <a:t>How to hide the QUICK START GUIDE bars from the sides of the template</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The Quick Start Guides </a:t>
                      </a:r>
                      <a:r>
                        <a:rPr lang="en-US" sz="2400" u="sng" strike="noStrike" cap="none">
                          <a:solidFill>
                            <a:srgbClr val="D9D9D9"/>
                          </a:solidFill>
                          <a:latin typeface="Arial"/>
                          <a:ea typeface="Arial"/>
                          <a:cs typeface="Arial"/>
                          <a:sym typeface="Arial"/>
                        </a:rPr>
                        <a:t>are outside the template’s printable area</a:t>
                      </a:r>
                      <a:r>
                        <a:rPr lang="en-US" sz="2400" u="none" strike="noStrike" cap="none">
                          <a:solidFill>
                            <a:srgbClr val="D9D9D9"/>
                          </a:solidFill>
                          <a:latin typeface="Arial"/>
                          <a:ea typeface="Arial"/>
                          <a:cs typeface="Arial"/>
                          <a:sym typeface="Arial"/>
                        </a:rPr>
                        <a:t> and they will not be on the printed poster. </a:t>
                      </a:r>
                      <a:endParaRPr sz="1400" u="none" strike="noStrike" cap="none"/>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If you create a PDF file from your template, the guides will not be included.</a:t>
                      </a:r>
                      <a:endParaRPr sz="1400" u="none" strike="noStrike" cap="none"/>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To hide the guides click on the </a:t>
                      </a:r>
                      <a:r>
                        <a:rPr lang="en-US" sz="2400" b="1" u="none" strike="noStrike" cap="none">
                          <a:solidFill>
                            <a:srgbClr val="D9D9D9"/>
                          </a:solidFill>
                          <a:latin typeface="Arial"/>
                          <a:ea typeface="Arial"/>
                          <a:cs typeface="Arial"/>
                          <a:sym typeface="Arial"/>
                        </a:rPr>
                        <a:t>Home</a:t>
                      </a:r>
                      <a:r>
                        <a:rPr lang="en-US" sz="2400" u="none" strike="noStrike" cap="none">
                          <a:solidFill>
                            <a:srgbClr val="D9D9D9"/>
                          </a:solidFill>
                          <a:latin typeface="Arial"/>
                          <a:ea typeface="Arial"/>
                          <a:cs typeface="Arial"/>
                          <a:sym typeface="Arial"/>
                        </a:rPr>
                        <a:t> tab (top of the screen) and then click on the </a:t>
                      </a:r>
                      <a:r>
                        <a:rPr lang="en-US" sz="2400" b="1" u="none" strike="noStrike" cap="none">
                          <a:solidFill>
                            <a:srgbClr val="D9D9D9"/>
                          </a:solidFill>
                          <a:latin typeface="Arial"/>
                          <a:ea typeface="Arial"/>
                          <a:cs typeface="Arial"/>
                          <a:sym typeface="Arial"/>
                        </a:rPr>
                        <a:t>Layout</a:t>
                      </a:r>
                      <a:r>
                        <a:rPr lang="en-US" sz="2400" u="none" strike="noStrike" cap="none">
                          <a:solidFill>
                            <a:srgbClr val="D9D9D9"/>
                          </a:solidFill>
                          <a:latin typeface="Arial"/>
                          <a:ea typeface="Arial"/>
                          <a:cs typeface="Arial"/>
                          <a:sym typeface="Arial"/>
                        </a:rPr>
                        <a:t> button below to see the available layouts. Choose the </a:t>
                      </a:r>
                      <a:r>
                        <a:rPr lang="en-US" sz="2400" b="1" u="none" strike="noStrike" cap="none">
                          <a:solidFill>
                            <a:srgbClr val="D9D9D9"/>
                          </a:solidFill>
                          <a:latin typeface="Arial"/>
                          <a:ea typeface="Arial"/>
                          <a:cs typeface="Arial"/>
                          <a:sym typeface="Arial"/>
                        </a:rPr>
                        <a:t>Without Guides </a:t>
                      </a:r>
                      <a:r>
                        <a:rPr lang="en-US" sz="2400" b="0" u="none" strike="noStrike" cap="none">
                          <a:solidFill>
                            <a:srgbClr val="D9D9D9"/>
                          </a:solidFill>
                          <a:latin typeface="Arial"/>
                          <a:ea typeface="Arial"/>
                          <a:cs typeface="Arial"/>
                          <a:sym typeface="Arial"/>
                        </a:rPr>
                        <a:t>layout</a:t>
                      </a:r>
                      <a:r>
                        <a:rPr lang="en-US" sz="2400" u="none" strike="noStrike" cap="none">
                          <a:solidFill>
                            <a:srgbClr val="D9D9D9"/>
                          </a:solidFill>
                          <a:latin typeface="Arial"/>
                          <a:ea typeface="Arial"/>
                          <a:cs typeface="Arial"/>
                          <a:sym typeface="Arial"/>
                        </a:rPr>
                        <a:t>.</a:t>
                      </a: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3"/>
                  </a:ext>
                </a:extLst>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781425">
                <a:tc gridSpan="2">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preview your poster prior to printing</a:t>
                      </a:r>
                      <a:endParaRPr sz="2800" b="1" u="none" strike="noStrike" cap="none">
                        <a:solidFill>
                          <a:srgbClr val="FFC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D9D9D9"/>
                          </a:solidFill>
                          <a:latin typeface="Arial"/>
                          <a:ea typeface="Arial"/>
                          <a:cs typeface="Arial"/>
                          <a:sym typeface="Arial"/>
                        </a:rPr>
                        <a:t>You can preview your poster at any time by pressing the </a:t>
                      </a:r>
                      <a:r>
                        <a:rPr lang="en-US" sz="2400" u="none" strike="noStrike" cap="none">
                          <a:solidFill>
                            <a:srgbClr val="FFC000"/>
                          </a:solidFill>
                          <a:latin typeface="Arial"/>
                          <a:ea typeface="Arial"/>
                          <a:cs typeface="Arial"/>
                          <a:sym typeface="Arial"/>
                        </a:rPr>
                        <a:t>F5 key</a:t>
                      </a:r>
                      <a:r>
                        <a:rPr lang="en-US" sz="2400" u="none" strike="noStrike" cap="none">
                          <a:solidFill>
                            <a:srgbClr val="D9D9D9"/>
                          </a:solidFill>
                          <a:latin typeface="Arial"/>
                          <a:ea typeface="Arial"/>
                          <a:cs typeface="Arial"/>
                          <a:sym typeface="Arial"/>
                        </a:rPr>
                        <a:t> on your keyboard. You will see on the screen what's on your poster and how it should look when printed. Press the </a:t>
                      </a:r>
                      <a:r>
                        <a:rPr lang="en-US" sz="2400" u="none" strike="noStrike" cap="none">
                          <a:solidFill>
                            <a:srgbClr val="FFC000"/>
                          </a:solidFill>
                          <a:latin typeface="Arial"/>
                          <a:ea typeface="Arial"/>
                          <a:cs typeface="Arial"/>
                          <a:sym typeface="Arial"/>
                        </a:rPr>
                        <a:t>ESC key </a:t>
                      </a:r>
                      <a:r>
                        <a:rPr lang="en-US" sz="2400" u="none" strike="noStrike" cap="none">
                          <a:solidFill>
                            <a:srgbClr val="D9D9D9"/>
                          </a:solidFill>
                          <a:latin typeface="Arial"/>
                          <a:ea typeface="Arial"/>
                          <a:cs typeface="Arial"/>
                          <a:sym typeface="Arial"/>
                        </a:rPr>
                        <a:t>to exit Preview.</a:t>
                      </a:r>
                      <a:endParaRPr sz="1400" u="none" strike="noStrike" cap="none"/>
                    </a:p>
                  </a:txBody>
                  <a:tcPr marL="182875" marR="91450" marT="137150" marB="45725">
                    <a:solidFill>
                      <a:srgbClr val="010101"/>
                    </a:solidFill>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500"/>
                        <a:buFont typeface="Arial"/>
                        <a:buNone/>
                      </a:pPr>
                      <a:r>
                        <a:rPr lang="en-US" sz="11500" b="1" u="none" strike="noStrike" cap="none">
                          <a:solidFill>
                            <a:srgbClr val="D9D9D9"/>
                          </a:solidFill>
                          <a:latin typeface="Arial"/>
                          <a:ea typeface="Arial"/>
                          <a:cs typeface="Arial"/>
                          <a:sym typeface="Arial"/>
                        </a:rPr>
                        <a:t>F5</a:t>
                      </a:r>
                      <a:r>
                        <a:rPr lang="en-US" sz="2400" u="none" strike="noStrike" cap="none">
                          <a:solidFill>
                            <a:srgbClr val="D9D9D9"/>
                          </a:solidFill>
                          <a:latin typeface="Arial"/>
                          <a:ea typeface="Arial"/>
                          <a:cs typeface="Arial"/>
                          <a:sym typeface="Arial"/>
                        </a:rPr>
                        <a:t> </a:t>
                      </a:r>
                      <a:endParaRPr sz="8600" u="none" strike="noStrike" cap="none"/>
                    </a:p>
                  </a:txBody>
                  <a:tcPr marL="182875" marR="91450" marT="137150" marB="45725" anchor="ctr">
                    <a:solidFill>
                      <a:srgbClr val="0C0C0C"/>
                    </a:solidFill>
                  </a:tcPr>
                </a:tc>
                <a:extLst>
                  <a:ext uri="{0D108BD9-81ED-4DB2-BD59-A6C34878D82A}">
                    <a16:rowId xmlns:a16="http://schemas.microsoft.com/office/drawing/2014/main" val="10005"/>
                  </a:ext>
                </a:extLst>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u="none" strike="noStrike" cap="none">
                          <a:solidFill>
                            <a:srgbClr val="FFC000"/>
                          </a:solidFill>
                          <a:latin typeface="Arial"/>
                          <a:ea typeface="Arial"/>
                          <a:cs typeface="Arial"/>
                          <a:sym typeface="Arial"/>
                        </a:rPr>
                        <a:t>How to print your poster</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When you are ready to have your poster printed go online to </a:t>
                      </a:r>
                      <a:r>
                        <a:rPr lang="en-US" sz="2400" u="none" strike="noStrike" cap="none">
                          <a:solidFill>
                            <a:srgbClr val="FFC000"/>
                          </a:solidFill>
                          <a:latin typeface="Arial"/>
                          <a:ea typeface="Arial"/>
                          <a:cs typeface="Arial"/>
                          <a:sym typeface="Arial"/>
                        </a:rPr>
                        <a:t>PosterPresentations.com</a:t>
                      </a:r>
                      <a:r>
                        <a:rPr lang="en-US" sz="2400" u="none" strike="noStrike" cap="none">
                          <a:solidFill>
                            <a:srgbClr val="D9D9D9"/>
                          </a:solidFill>
                          <a:latin typeface="Arial"/>
                          <a:ea typeface="Arial"/>
                          <a:cs typeface="Arial"/>
                          <a:sym typeface="Arial"/>
                        </a:rPr>
                        <a:t> and click on the "</a:t>
                      </a:r>
                      <a:r>
                        <a:rPr lang="en-US" sz="2400" u="none" strike="noStrike" cap="none">
                          <a:solidFill>
                            <a:srgbClr val="FFC000"/>
                          </a:solidFill>
                          <a:latin typeface="Arial"/>
                          <a:ea typeface="Arial"/>
                          <a:cs typeface="Arial"/>
                          <a:sym typeface="Arial"/>
                        </a:rPr>
                        <a:t>Order Your Poster</a:t>
                      </a:r>
                      <a:r>
                        <a:rPr lang="en-US" sz="2400" u="none" strike="noStrike" cap="none">
                          <a:solidFill>
                            <a:srgbClr val="D9D9D9"/>
                          </a:solidFill>
                          <a:latin typeface="Arial"/>
                          <a:ea typeface="Arial"/>
                          <a:cs typeface="Arial"/>
                          <a:sym typeface="Arial"/>
                        </a:rPr>
                        <a:t>" button. You can have your poster printed on professional papers, fabric for easy traveling and a variety of other materials. </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sz="1400" u="none" strike="noStrike" cap="none"/>
                    </a:p>
                    <a:p>
                      <a:pPr marL="0" marR="0" lvl="0" indent="0" algn="l" rtl="0">
                        <a:lnSpc>
                          <a:spcPct val="100000"/>
                        </a:lnSpc>
                        <a:spcBef>
                          <a:spcPts val="0"/>
                        </a:spcBef>
                        <a:spcAft>
                          <a:spcPts val="0"/>
                        </a:spcAft>
                        <a:buClr>
                          <a:srgbClr val="D9D9D9"/>
                        </a:buClr>
                        <a:buSzPts val="2400"/>
                        <a:buFont typeface="Arial"/>
                        <a:buNone/>
                      </a:pPr>
                      <a:br>
                        <a:rPr lang="en-US" sz="2400" u="none" strike="noStrike" cap="none">
                          <a:solidFill>
                            <a:srgbClr val="D9D9D9"/>
                          </a:solidFill>
                          <a:latin typeface="Arial"/>
                          <a:ea typeface="Arial"/>
                          <a:cs typeface="Arial"/>
                          <a:sym typeface="Arial"/>
                        </a:rPr>
                      </a:br>
                      <a:r>
                        <a:rPr lang="en-US" sz="2400" u="none" strike="noStrike" cap="none">
                          <a:solidFill>
                            <a:srgbClr val="D9D9D9"/>
                          </a:solidFill>
                          <a:latin typeface="Arial"/>
                          <a:ea typeface="Arial"/>
                          <a:cs typeface="Arial"/>
                          <a:sym typeface="Arial"/>
                        </a:rPr>
                        <a:t>Go to </a:t>
                      </a:r>
                      <a:r>
                        <a:rPr lang="en-US" sz="2400" u="none" strike="noStrike" cap="none">
                          <a:solidFill>
                            <a:srgbClr val="FFC000"/>
                          </a:solidFill>
                          <a:latin typeface="Arial"/>
                          <a:ea typeface="Arial"/>
                          <a:cs typeface="Arial"/>
                          <a:sym typeface="Arial"/>
                        </a:rPr>
                        <a:t>PosterPresentations.com</a:t>
                      </a:r>
                      <a:r>
                        <a:rPr lang="en-US" sz="2400" u="none" strike="noStrike" cap="none">
                          <a:solidFill>
                            <a:srgbClr val="D9D9D9"/>
                          </a:solidFill>
                          <a:latin typeface="Arial"/>
                          <a:ea typeface="Arial"/>
                          <a:cs typeface="Arial"/>
                          <a:sym typeface="Arial"/>
                        </a:rPr>
                        <a:t> for more information.</a:t>
                      </a:r>
                      <a:endParaRPr sz="1400" u="none" strike="noStrike" cap="none"/>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354775">
                <a:tc gridSpan="3">
                  <a:txBody>
                    <a:bodyPr/>
                    <a:lstStyle/>
                    <a:p>
                      <a:pPr marL="0" marR="0" lvl="0" indent="0" algn="l" rtl="0">
                        <a:lnSpc>
                          <a:spcPct val="100000"/>
                        </a:lnSpc>
                        <a:spcBef>
                          <a:spcPts val="0"/>
                        </a:spcBef>
                        <a:spcAft>
                          <a:spcPts val="0"/>
                        </a:spcAft>
                        <a:buClr>
                          <a:srgbClr val="000000"/>
                        </a:buClr>
                        <a:buSzPts val="2400"/>
                        <a:buFont typeface="Arial"/>
                        <a:buNone/>
                      </a:pPr>
                      <a:endParaRPr sz="2400" u="none" strike="noStrike" cap="none">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12200">
                <a:tc>
                  <a:txBody>
                    <a:bodyPr/>
                    <a:lstStyle/>
                    <a:p>
                      <a:pPr marL="0" marR="0" lvl="0" indent="0" algn="l" rtl="0">
                        <a:lnSpc>
                          <a:spcPct val="130000"/>
                        </a:lnSpc>
                        <a:spcBef>
                          <a:spcPts val="0"/>
                        </a:spcBef>
                        <a:spcAft>
                          <a:spcPts val="0"/>
                        </a:spcAft>
                        <a:buClr>
                          <a:srgbClr val="000000"/>
                        </a:buClr>
                        <a:buSzPts val="2000"/>
                        <a:buFont typeface="Arial"/>
                        <a:buNone/>
                      </a:pPr>
                      <a:r>
                        <a:rPr lang="en-US" sz="2000" u="none" strike="noStrike" cap="none">
                          <a:solidFill>
                            <a:srgbClr val="D8D8D8"/>
                          </a:solidFill>
                          <a:latin typeface="Arial"/>
                          <a:ea typeface="Arial"/>
                          <a:cs typeface="Arial"/>
                          <a:sym typeface="Arial"/>
                        </a:rPr>
                        <a:t>© 2019 PosterPresentations.com</a:t>
                      </a:r>
                      <a:br>
                        <a:rPr lang="en-US" sz="2000" u="none" strike="noStrike" cap="none">
                          <a:solidFill>
                            <a:srgbClr val="D8D8D8"/>
                          </a:solidFill>
                          <a:latin typeface="Arial"/>
                          <a:ea typeface="Arial"/>
                          <a:cs typeface="Arial"/>
                          <a:sym typeface="Arial"/>
                        </a:rPr>
                      </a:br>
                      <a:r>
                        <a:rPr lang="en-US" sz="2000" u="none" strike="noStrike" cap="none">
                          <a:solidFill>
                            <a:srgbClr val="D8D8D8"/>
                          </a:solidFill>
                          <a:latin typeface="Arial"/>
                          <a:ea typeface="Arial"/>
                          <a:cs typeface="Arial"/>
                          <a:sym typeface="Arial"/>
                        </a:rPr>
                        <a:t>2117 Fourth Street , STE C        </a:t>
                      </a:r>
                      <a:endParaRPr sz="1400" u="none" strike="noStrike" cap="none"/>
                    </a:p>
                    <a:p>
                      <a:pPr marL="0" marR="0" lvl="0" indent="0" algn="l" rtl="0">
                        <a:lnSpc>
                          <a:spcPct val="130000"/>
                        </a:lnSpc>
                        <a:spcBef>
                          <a:spcPts val="0"/>
                        </a:spcBef>
                        <a:spcAft>
                          <a:spcPts val="0"/>
                        </a:spcAft>
                        <a:buClr>
                          <a:srgbClr val="000000"/>
                        </a:buClr>
                        <a:buSzPts val="2000"/>
                        <a:buFont typeface="Arial"/>
                        <a:buNone/>
                      </a:pPr>
                      <a:r>
                        <a:rPr lang="en-US" sz="2000" u="none" strike="noStrike" cap="none">
                          <a:solidFill>
                            <a:srgbClr val="D8D8D8"/>
                          </a:solidFill>
                          <a:latin typeface="Arial"/>
                          <a:ea typeface="Arial"/>
                          <a:cs typeface="Arial"/>
                          <a:sym typeface="Arial"/>
                        </a:rPr>
                        <a:t>Berkeley CA 94710 USA</a:t>
                      </a:r>
                      <a:endParaRPr sz="2000" u="none" strike="noStrike" cap="none">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u="none" strike="noStrike" cap="none">
                          <a:solidFill>
                            <a:srgbClr val="D0D0D0"/>
                          </a:solidFill>
                          <a:latin typeface="Arial"/>
                          <a:ea typeface="Arial"/>
                          <a:cs typeface="Arial"/>
                          <a:sym typeface="Arial"/>
                        </a:rPr>
                        <a:t>For complete tutorials visit:</a:t>
                      </a:r>
                      <a:endParaRPr sz="1400" u="none" strike="noStrike" cap="none"/>
                    </a:p>
                    <a:p>
                      <a:pPr marL="0" marR="0" lvl="0" indent="0" algn="l" rtl="0">
                        <a:lnSpc>
                          <a:spcPct val="100000"/>
                        </a:lnSpc>
                        <a:spcBef>
                          <a:spcPts val="0"/>
                        </a:spcBef>
                        <a:spcAft>
                          <a:spcPts val="0"/>
                        </a:spcAft>
                        <a:buClr>
                          <a:srgbClr val="FFC000"/>
                        </a:buClr>
                        <a:buSzPts val="1800"/>
                        <a:buFont typeface="Arial"/>
                        <a:buNone/>
                      </a:pPr>
                      <a:r>
                        <a:rPr lang="en-US" sz="1800" b="1" u="none" strike="noStrike" cap="none">
                          <a:solidFill>
                            <a:srgbClr val="FFC000"/>
                          </a:solidFill>
                          <a:latin typeface="Arial"/>
                          <a:ea typeface="Arial"/>
                          <a:cs typeface="Arial"/>
                          <a:sym typeface="Arial"/>
                        </a:rPr>
                        <a:t>https://www.posterpresentations.com/helpdesk.html</a:t>
                      </a:r>
                      <a:endParaRPr sz="1800" u="none" strike="noStrike" cap="none">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hyperlink" Target="https://codeclimate.com/github/sanjaynayak1628/CEHD_Aggie_Educator_Portal" TargetMode="External"/><Relationship Id="rId12" Type="http://schemas.openxmlformats.org/officeDocument/2006/relationships/image" Target="../media/image6.png"/><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hyperlink" Target="http://arcane-temple-55328.herokuapp.com/" TargetMode="External"/><Relationship Id="rId11" Type="http://schemas.openxmlformats.org/officeDocument/2006/relationships/image" Target="../media/image5.png"/><Relationship Id="rId5" Type="http://schemas.openxmlformats.org/officeDocument/2006/relationships/hyperlink" Target="https://github.com/sanjaynayak1628/CEHD_Aggie_Educator_Portal/" TargetMode="External"/><Relationship Id="rId1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hyperlink" Target="https://www.pivotaltracker.com/n/projects/2555005" TargetMode="External"/><Relationship Id="rId9" Type="http://schemas.openxmlformats.org/officeDocument/2006/relationships/image" Target="../media/image3.png"/><Relationship Id="rId1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body" idx="2"/>
          </p:nvPr>
        </p:nvSpPr>
        <p:spPr>
          <a:xfrm>
            <a:off x="439482" y="5670793"/>
            <a:ext cx="10048876" cy="754045"/>
          </a:xfrm>
          <a:prstGeom prst="rect">
            <a:avLst/>
          </a:prstGeom>
          <a:no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rgbClr val="1F3864"/>
              </a:buClr>
              <a:buSzPts val="3700"/>
              <a:buNone/>
            </a:pPr>
            <a:r>
              <a:rPr lang="en-US" dirty="0"/>
              <a:t>INTRODUCTION</a:t>
            </a:r>
            <a:endParaRPr dirty="0"/>
          </a:p>
        </p:txBody>
      </p:sp>
      <p:sp>
        <p:nvSpPr>
          <p:cNvPr id="48" name="Google Shape;48;p1"/>
          <p:cNvSpPr txBox="1">
            <a:spLocks noGrp="1"/>
          </p:cNvSpPr>
          <p:nvPr>
            <p:ph type="body" idx="13"/>
          </p:nvPr>
        </p:nvSpPr>
        <p:spPr>
          <a:xfrm>
            <a:off x="33334744" y="20321932"/>
            <a:ext cx="10047000" cy="754200"/>
          </a:xfrm>
          <a:prstGeom prst="rect">
            <a:avLst/>
          </a:prstGeom>
          <a:no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rgbClr val="1F3864"/>
              </a:buClr>
              <a:buSzPts val="3700"/>
              <a:buNone/>
            </a:pPr>
            <a:r>
              <a:rPr lang="en-US" dirty="0"/>
              <a:t>CONCLUSIONS</a:t>
            </a:r>
            <a:endParaRPr dirty="0"/>
          </a:p>
        </p:txBody>
      </p:sp>
      <p:sp>
        <p:nvSpPr>
          <p:cNvPr id="49" name="Google Shape;49;p1"/>
          <p:cNvSpPr txBox="1">
            <a:spLocks noGrp="1"/>
          </p:cNvSpPr>
          <p:nvPr>
            <p:ph type="body" idx="14"/>
          </p:nvPr>
        </p:nvSpPr>
        <p:spPr>
          <a:xfrm>
            <a:off x="33449905" y="21076132"/>
            <a:ext cx="9816677" cy="2923827"/>
          </a:xfrm>
          <a:prstGeom prst="rect">
            <a:avLst/>
          </a:prstGeom>
          <a:noFill/>
          <a:ln>
            <a:noFill/>
          </a:ln>
        </p:spPr>
        <p:txBody>
          <a:bodyPr spcFirstLastPara="1" wrap="square" lIns="228575" tIns="228575" rIns="228575" bIns="228575" anchor="t" anchorCtr="0">
            <a:spAutoFit/>
          </a:bodyPr>
          <a:lstStyle/>
          <a:p>
            <a:pPr marL="342900" indent="-342900" algn="just">
              <a:spcBef>
                <a:spcPts val="0"/>
              </a:spcBef>
              <a:buFont typeface="Arial"/>
              <a:buChar char="•"/>
            </a:pPr>
            <a:r>
              <a:rPr lang="en-US" sz="3200" dirty="0">
                <a:sym typeface="Arial"/>
              </a:rPr>
              <a:t>The </a:t>
            </a:r>
            <a:r>
              <a:rPr lang="en-US" sz="3200" dirty="0"/>
              <a:t>application would help in digitalizing the manual timesheet logging and approval process of the students.</a:t>
            </a:r>
          </a:p>
          <a:p>
            <a:pPr marL="342900" lvl="0" indent="-342900" algn="just">
              <a:spcBef>
                <a:spcPts val="0"/>
              </a:spcBef>
              <a:buFont typeface="Arial"/>
              <a:buChar char="•"/>
            </a:pPr>
            <a:r>
              <a:rPr lang="en-US" sz="3200" dirty="0">
                <a:sym typeface="Arial"/>
              </a:rPr>
              <a:t> All the necessary features of submitting , viewing, updating, rejecting, the timesheets has been implemented in this release of the application.</a:t>
            </a:r>
            <a:endParaRPr sz="3200" dirty="0">
              <a:sym typeface="Arial"/>
            </a:endParaRPr>
          </a:p>
        </p:txBody>
      </p:sp>
      <p:sp>
        <p:nvSpPr>
          <p:cNvPr id="51" name="Google Shape;51;p1"/>
          <p:cNvSpPr txBox="1">
            <a:spLocks noGrp="1"/>
          </p:cNvSpPr>
          <p:nvPr>
            <p:ph type="body" idx="18"/>
          </p:nvPr>
        </p:nvSpPr>
        <p:spPr>
          <a:xfrm>
            <a:off x="5932593" y="3383947"/>
            <a:ext cx="31998968" cy="128016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1F3864"/>
              </a:buClr>
              <a:buSzPts val="5400"/>
              <a:buFont typeface="Calibri"/>
              <a:buNone/>
            </a:pPr>
            <a:r>
              <a:rPr lang="en-US"/>
              <a:t>Texas A&amp;M University, College Station, TX</a:t>
            </a:r>
            <a:endParaRPr/>
          </a:p>
        </p:txBody>
      </p:sp>
      <p:sp>
        <p:nvSpPr>
          <p:cNvPr id="52" name="Google Shape;52;p1"/>
          <p:cNvSpPr txBox="1">
            <a:spLocks noGrp="1"/>
          </p:cNvSpPr>
          <p:nvPr>
            <p:ph type="body" idx="19"/>
          </p:nvPr>
        </p:nvSpPr>
        <p:spPr>
          <a:xfrm>
            <a:off x="5932593" y="2103787"/>
            <a:ext cx="31998968" cy="1280160"/>
          </a:xfrm>
          <a:prstGeom prst="rect">
            <a:avLst/>
          </a:prstGeom>
          <a:noFill/>
          <a:ln>
            <a:noFill/>
          </a:ln>
        </p:spPr>
        <p:txBody>
          <a:bodyPr spcFirstLastPara="1" wrap="square" lIns="91425" tIns="45700" rIns="91425" bIns="45700" anchor="t" anchorCtr="1">
            <a:normAutofit lnSpcReduction="10000"/>
          </a:bodyPr>
          <a:lstStyle/>
          <a:p>
            <a:pPr marL="0" lvl="0" indent="0" algn="ctr" rtl="0">
              <a:lnSpc>
                <a:spcPct val="100000"/>
              </a:lnSpc>
              <a:spcBef>
                <a:spcPts val="0"/>
              </a:spcBef>
              <a:spcAft>
                <a:spcPts val="0"/>
              </a:spcAft>
              <a:buClr>
                <a:srgbClr val="1F3864"/>
              </a:buClr>
              <a:buSzPts val="8000"/>
              <a:buFont typeface="Calibri"/>
              <a:buNone/>
            </a:pPr>
            <a:r>
              <a:rPr lang="en-US" dirty="0"/>
              <a:t>Manisha Dixit, Piyush Nayak, Rajesh </a:t>
            </a:r>
            <a:r>
              <a:rPr lang="en-US" dirty="0" err="1"/>
              <a:t>Satpathy</a:t>
            </a:r>
            <a:r>
              <a:rPr lang="en-US" dirty="0"/>
              <a:t>, Sanjay Nayak, </a:t>
            </a:r>
            <a:r>
              <a:rPr lang="en-US" dirty="0" err="1"/>
              <a:t>Sruti</a:t>
            </a:r>
            <a:r>
              <a:rPr lang="en-US" dirty="0"/>
              <a:t> Patnaik</a:t>
            </a:r>
            <a:endParaRPr dirty="0"/>
          </a:p>
        </p:txBody>
      </p:sp>
      <p:sp>
        <p:nvSpPr>
          <p:cNvPr id="53" name="Google Shape;53;p1"/>
          <p:cNvSpPr txBox="1">
            <a:spLocks noGrp="1"/>
          </p:cNvSpPr>
          <p:nvPr>
            <p:ph type="body" idx="20"/>
          </p:nvPr>
        </p:nvSpPr>
        <p:spPr>
          <a:xfrm>
            <a:off x="5932593" y="465813"/>
            <a:ext cx="31998968" cy="1637973"/>
          </a:xfrm>
          <a:prstGeom prst="rect">
            <a:avLst/>
          </a:prstGeom>
          <a:noFill/>
          <a:ln>
            <a:noFill/>
          </a:ln>
        </p:spPr>
        <p:txBody>
          <a:bodyPr spcFirstLastPara="1" wrap="square" lIns="91425" tIns="45700" rIns="91425" bIns="45700" anchor="t" anchorCtr="1">
            <a:normAutofit/>
          </a:bodyPr>
          <a:lstStyle/>
          <a:p>
            <a:pPr marL="0" lvl="0" indent="0">
              <a:spcBef>
                <a:spcPts val="0"/>
              </a:spcBef>
            </a:pPr>
            <a:r>
              <a:rPr lang="en-US" dirty="0"/>
              <a:t>CEHD Teacher Certification Manager</a:t>
            </a:r>
            <a:endParaRPr dirty="0"/>
          </a:p>
        </p:txBody>
      </p:sp>
      <p:sp>
        <p:nvSpPr>
          <p:cNvPr id="54" name="Google Shape;54;p1"/>
          <p:cNvSpPr txBox="1"/>
          <p:nvPr/>
        </p:nvSpPr>
        <p:spPr>
          <a:xfrm>
            <a:off x="663005" y="6452069"/>
            <a:ext cx="9694800" cy="4524275"/>
          </a:xfrm>
          <a:prstGeom prst="rect">
            <a:avLst/>
          </a:prstGeom>
          <a:noFill/>
          <a:ln>
            <a:noFill/>
          </a:ln>
        </p:spPr>
        <p:txBody>
          <a:bodyPr spcFirstLastPara="1" wrap="square" lIns="91425" tIns="45700" rIns="91425" bIns="45700" anchor="t" anchorCtr="0">
            <a:spAutoFit/>
          </a:bodyPr>
          <a:lstStyle/>
          <a:p>
            <a:pPr algn="just">
              <a:buClr>
                <a:srgbClr val="1F3864"/>
              </a:buClr>
              <a:buSzPts val="2500"/>
            </a:pPr>
            <a:r>
              <a:rPr lang="en-US" sz="3200" dirty="0">
                <a:solidFill>
                  <a:srgbClr val="1F3864"/>
                </a:solidFill>
                <a:latin typeface="Times New Roman"/>
                <a:cs typeface="Times New Roman"/>
                <a:sym typeface="Times New Roman"/>
              </a:rPr>
              <a:t>The main objective of the project is to create an application to record, maintain and approve the time logs of the students.  This is a new application which is being designed to address the requirement of the College of Education and Human Development (CEHD). The students would be filling the time logs for each working day in the application, which would be notified via mail to the cooperating teacher for approval of the student time-logs. </a:t>
            </a:r>
          </a:p>
        </p:txBody>
      </p:sp>
      <p:sp>
        <p:nvSpPr>
          <p:cNvPr id="55" name="Google Shape;55;p1"/>
          <p:cNvSpPr txBox="1"/>
          <p:nvPr/>
        </p:nvSpPr>
        <p:spPr>
          <a:xfrm>
            <a:off x="349705" y="10823849"/>
            <a:ext cx="10228431" cy="754200"/>
          </a:xfrm>
          <a:prstGeom prst="rect">
            <a:avLst/>
          </a:prstGeom>
          <a:no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1F3864"/>
              </a:buClr>
              <a:buSzPts val="3700"/>
              <a:buFont typeface="Arial"/>
              <a:buNone/>
            </a:pPr>
            <a:r>
              <a:rPr lang="en-US" sz="3700" b="1" i="0" u="sng" strike="noStrike" cap="none" dirty="0">
                <a:solidFill>
                  <a:srgbClr val="1F3864"/>
                </a:solidFill>
                <a:latin typeface="Calibri"/>
                <a:ea typeface="Calibri"/>
                <a:cs typeface="Calibri"/>
                <a:sym typeface="Calibri"/>
              </a:rPr>
              <a:t>TOOLS USED</a:t>
            </a:r>
            <a:endParaRPr sz="1400" b="0" i="0" u="none" strike="noStrike" cap="none" dirty="0">
              <a:solidFill>
                <a:srgbClr val="000000"/>
              </a:solidFill>
              <a:latin typeface="Arial"/>
              <a:ea typeface="Arial"/>
              <a:cs typeface="Arial"/>
              <a:sym typeface="Arial"/>
            </a:endParaRPr>
          </a:p>
        </p:txBody>
      </p:sp>
      <p:sp>
        <p:nvSpPr>
          <p:cNvPr id="56" name="Google Shape;56;p1"/>
          <p:cNvSpPr txBox="1"/>
          <p:nvPr/>
        </p:nvSpPr>
        <p:spPr>
          <a:xfrm>
            <a:off x="3722914" y="18451286"/>
            <a:ext cx="184731"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Times New Roman"/>
              <a:ea typeface="Times New Roman"/>
              <a:cs typeface="Times New Roman"/>
              <a:sym typeface="Times New Roman"/>
            </a:endParaRPr>
          </a:p>
        </p:txBody>
      </p:sp>
      <p:sp>
        <p:nvSpPr>
          <p:cNvPr id="57" name="Google Shape;57;p1"/>
          <p:cNvSpPr txBox="1"/>
          <p:nvPr/>
        </p:nvSpPr>
        <p:spPr>
          <a:xfrm>
            <a:off x="14107886" y="17798144"/>
            <a:ext cx="184731"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Times New Roman"/>
              <a:ea typeface="Times New Roman"/>
              <a:cs typeface="Times New Roman"/>
              <a:sym typeface="Times New Roman"/>
            </a:endParaRPr>
          </a:p>
        </p:txBody>
      </p:sp>
      <p:sp>
        <p:nvSpPr>
          <p:cNvPr id="63" name="Google Shape;63;p1"/>
          <p:cNvSpPr txBox="1">
            <a:spLocks noGrp="1"/>
          </p:cNvSpPr>
          <p:nvPr>
            <p:ph type="body" idx="9"/>
          </p:nvPr>
        </p:nvSpPr>
        <p:spPr>
          <a:xfrm>
            <a:off x="22538584" y="23833171"/>
            <a:ext cx="9727500" cy="1077167"/>
          </a:xfrm>
          <a:prstGeom prst="rect">
            <a:avLst/>
          </a:prstGeom>
          <a:noFill/>
          <a:ln>
            <a:noFill/>
          </a:ln>
        </p:spPr>
        <p:txBody>
          <a:bodyPr spcFirstLastPara="1" wrap="square" lIns="228575" tIns="228575" rIns="228575" bIns="228575" anchor="t" anchorCtr="0">
            <a:spAutoFit/>
          </a:bodyPr>
          <a:lstStyle/>
          <a:p>
            <a:pPr marL="0" lvl="0" indent="0">
              <a:spcBef>
                <a:spcPts val="0"/>
              </a:spcBef>
              <a:buSzPts val="4000"/>
            </a:pPr>
            <a:r>
              <a:rPr lang="en-IN" sz="4000" u="sng" dirty="0"/>
              <a:t>View Timesheets – Supervisor</a:t>
            </a:r>
            <a:r>
              <a:rPr lang="en-US" sz="4000" u="sng" dirty="0"/>
              <a:t> </a:t>
            </a:r>
            <a:endParaRPr sz="4000" u="sng" dirty="0"/>
          </a:p>
        </p:txBody>
      </p:sp>
      <p:pic>
        <p:nvPicPr>
          <p:cNvPr id="66" name="Google Shape;66;p1" descr="Chart, funnel chart&#10;&#10;Description automatically generated"/>
          <p:cNvPicPr preferRelativeResize="0"/>
          <p:nvPr/>
        </p:nvPicPr>
        <p:blipFill rotWithShape="1">
          <a:blip r:embed="rId3">
            <a:alphaModFix/>
          </a:blip>
          <a:srcRect/>
          <a:stretch/>
        </p:blipFill>
        <p:spPr>
          <a:xfrm>
            <a:off x="54799581" y="37213963"/>
            <a:ext cx="817669" cy="1429853"/>
          </a:xfrm>
          <a:prstGeom prst="rect">
            <a:avLst/>
          </a:prstGeom>
          <a:noFill/>
          <a:ln>
            <a:noFill/>
          </a:ln>
        </p:spPr>
      </p:pic>
      <p:sp>
        <p:nvSpPr>
          <p:cNvPr id="70" name="Google Shape;70;p1"/>
          <p:cNvSpPr txBox="1"/>
          <p:nvPr/>
        </p:nvSpPr>
        <p:spPr>
          <a:xfrm>
            <a:off x="33334744" y="24401750"/>
            <a:ext cx="10047000" cy="754200"/>
          </a:xfrm>
          <a:prstGeom prst="rect">
            <a:avLst/>
          </a:prstGeom>
          <a:no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1F3864"/>
              </a:buClr>
              <a:buSzPts val="3700"/>
              <a:buFont typeface="Arial"/>
              <a:buNone/>
            </a:pPr>
            <a:r>
              <a:rPr lang="en-US" sz="3700" b="1" i="0" u="sng" strike="noStrike" cap="none" dirty="0">
                <a:solidFill>
                  <a:srgbClr val="1F3864"/>
                </a:solidFill>
                <a:latin typeface="Calibri"/>
                <a:ea typeface="Calibri"/>
                <a:cs typeface="Calibri"/>
                <a:sym typeface="Calibri"/>
              </a:rPr>
              <a:t>Important Links :</a:t>
            </a:r>
            <a:endParaRPr sz="1400" b="0" i="0" u="none" strike="noStrike" cap="none" dirty="0">
              <a:solidFill>
                <a:srgbClr val="000000"/>
              </a:solidFill>
              <a:latin typeface="Arial"/>
              <a:ea typeface="Arial"/>
              <a:cs typeface="Arial"/>
              <a:sym typeface="Arial"/>
            </a:endParaRPr>
          </a:p>
        </p:txBody>
      </p:sp>
      <p:sp>
        <p:nvSpPr>
          <p:cNvPr id="80" name="Google Shape;80;p1"/>
          <p:cNvSpPr txBox="1"/>
          <p:nvPr/>
        </p:nvSpPr>
        <p:spPr>
          <a:xfrm>
            <a:off x="33638331" y="25120912"/>
            <a:ext cx="9532800" cy="5093662"/>
          </a:xfrm>
          <a:prstGeom prst="rect">
            <a:avLst/>
          </a:prstGeom>
          <a:noFill/>
          <a:ln>
            <a:noFill/>
          </a:ln>
        </p:spPr>
        <p:txBody>
          <a:bodyPr spcFirstLastPara="1" wrap="square" lIns="91425" tIns="45700" rIns="91425" bIns="45700" anchor="t" anchorCtr="0">
            <a:spAutoFit/>
          </a:bodyPr>
          <a:lstStyle/>
          <a:p>
            <a:pPr fontAlgn="base"/>
            <a:r>
              <a:rPr lang="en-IN" sz="2500" dirty="0">
                <a:solidFill>
                  <a:srgbClr val="1F3864"/>
                </a:solidFill>
                <a:latin typeface="Times New Roman"/>
                <a:cs typeface="Times New Roman"/>
                <a:sym typeface="Times New Roman"/>
              </a:rPr>
              <a:t>Pivotal tracker :</a:t>
            </a:r>
          </a:p>
          <a:p>
            <a:pPr fontAlgn="base"/>
            <a:r>
              <a:rPr lang="en-IN" sz="2500" dirty="0">
                <a:solidFill>
                  <a:srgbClr val="1F3864"/>
                </a:solidFill>
                <a:latin typeface="Times New Roman"/>
                <a:cs typeface="Times New Roman"/>
                <a:sym typeface="Times New Roman"/>
                <a:hlinkClick r:id="rId4">
                  <a:extLst>
                    <a:ext uri="{A12FA001-AC4F-418D-AE19-62706E023703}">
                      <ahyp:hlinkClr xmlns:ahyp="http://schemas.microsoft.com/office/drawing/2018/hyperlinkcolor" val="tx"/>
                    </a:ext>
                  </a:extLst>
                </a:hlinkClick>
              </a:rPr>
              <a:t>https://www.pivotaltracker.com/n/projects/2555005</a:t>
            </a:r>
            <a:r>
              <a:rPr lang="en-IN" sz="2500" dirty="0">
                <a:solidFill>
                  <a:srgbClr val="1F3864"/>
                </a:solidFill>
                <a:latin typeface="Times New Roman"/>
                <a:cs typeface="Times New Roman"/>
                <a:sym typeface="Times New Roman"/>
              </a:rPr>
              <a:t> </a:t>
            </a:r>
          </a:p>
          <a:p>
            <a:pPr fontAlgn="base"/>
            <a:endParaRPr lang="en-IN" sz="2500" dirty="0">
              <a:solidFill>
                <a:srgbClr val="1F3864"/>
              </a:solidFill>
              <a:latin typeface="Times New Roman"/>
              <a:cs typeface="Times New Roman"/>
              <a:sym typeface="Times New Roman"/>
            </a:endParaRPr>
          </a:p>
          <a:p>
            <a:pPr fontAlgn="base"/>
            <a:r>
              <a:rPr lang="en-IN" sz="2500" dirty="0">
                <a:solidFill>
                  <a:srgbClr val="1F3864"/>
                </a:solidFill>
                <a:latin typeface="Times New Roman"/>
                <a:cs typeface="Times New Roman"/>
                <a:sym typeface="Times New Roman"/>
              </a:rPr>
              <a:t>GitHub Repo : </a:t>
            </a:r>
            <a:r>
              <a:rPr lang="en-IN" sz="2500" dirty="0">
                <a:solidFill>
                  <a:srgbClr val="1F3864"/>
                </a:solidFill>
                <a:latin typeface="Times New Roman"/>
                <a:cs typeface="Times New Roman"/>
                <a:sym typeface="Times New Roman"/>
                <a:hlinkClick r:id="rId5">
                  <a:extLst>
                    <a:ext uri="{A12FA001-AC4F-418D-AE19-62706E023703}">
                      <ahyp:hlinkClr xmlns:ahyp="http://schemas.microsoft.com/office/drawing/2018/hyperlinkcolor" val="tx"/>
                    </a:ext>
                  </a:extLst>
                </a:hlinkClick>
              </a:rPr>
              <a:t>https://github.com/sanjaynayak1628/CEHD_Aggie_Educator_Portal/</a:t>
            </a:r>
            <a:r>
              <a:rPr lang="en-IN" sz="2500" dirty="0">
                <a:solidFill>
                  <a:srgbClr val="1F3864"/>
                </a:solidFill>
                <a:latin typeface="Times New Roman"/>
                <a:cs typeface="Times New Roman"/>
                <a:sym typeface="Times New Roman"/>
              </a:rPr>
              <a:t> </a:t>
            </a:r>
          </a:p>
          <a:p>
            <a:pPr fontAlgn="base"/>
            <a:endParaRPr lang="en-IN" sz="2500" dirty="0">
              <a:solidFill>
                <a:srgbClr val="1F3864"/>
              </a:solidFill>
              <a:latin typeface="Times New Roman"/>
              <a:cs typeface="Times New Roman"/>
              <a:sym typeface="Times New Roman"/>
            </a:endParaRPr>
          </a:p>
          <a:p>
            <a:pPr fontAlgn="base"/>
            <a:r>
              <a:rPr lang="en-IN" sz="2500" dirty="0">
                <a:solidFill>
                  <a:srgbClr val="1F3864"/>
                </a:solidFill>
                <a:latin typeface="Times New Roman"/>
                <a:cs typeface="Times New Roman"/>
                <a:sym typeface="Times New Roman"/>
              </a:rPr>
              <a:t>Heroku deployment  :</a:t>
            </a:r>
          </a:p>
          <a:p>
            <a:pPr fontAlgn="base"/>
            <a:r>
              <a:rPr lang="en-IN" sz="2500" dirty="0">
                <a:solidFill>
                  <a:srgbClr val="1F3864"/>
                </a:solidFill>
                <a:latin typeface="Times New Roman"/>
                <a:cs typeface="Times New Roman"/>
                <a:sym typeface="Times New Roman"/>
                <a:hlinkClick r:id="rId6">
                  <a:extLst>
                    <a:ext uri="{A12FA001-AC4F-418D-AE19-62706E023703}">
                      <ahyp:hlinkClr xmlns:ahyp="http://schemas.microsoft.com/office/drawing/2018/hyperlinkcolor" val="tx"/>
                    </a:ext>
                  </a:extLst>
                </a:hlinkClick>
              </a:rPr>
              <a:t>http://arcane-temple-55328.herokuapp.com/</a:t>
            </a:r>
            <a:r>
              <a:rPr lang="en-IN" sz="2500" dirty="0">
                <a:solidFill>
                  <a:srgbClr val="1F3864"/>
                </a:solidFill>
                <a:latin typeface="Times New Roman"/>
                <a:cs typeface="Times New Roman"/>
                <a:sym typeface="Times New Roman"/>
              </a:rPr>
              <a:t> </a:t>
            </a:r>
          </a:p>
          <a:p>
            <a:pPr fontAlgn="base"/>
            <a:endParaRPr lang="en-IN" sz="2500" dirty="0">
              <a:solidFill>
                <a:srgbClr val="1F3864"/>
              </a:solidFill>
              <a:latin typeface="Times New Roman"/>
              <a:cs typeface="Times New Roman"/>
              <a:sym typeface="Times New Roman"/>
            </a:endParaRPr>
          </a:p>
          <a:p>
            <a:pPr fontAlgn="base"/>
            <a:r>
              <a:rPr lang="en-IN" sz="2500" dirty="0">
                <a:solidFill>
                  <a:srgbClr val="1F3864"/>
                </a:solidFill>
                <a:latin typeface="Times New Roman"/>
                <a:cs typeface="Times New Roman"/>
                <a:sym typeface="Times New Roman"/>
              </a:rPr>
              <a:t>Code Coverage : </a:t>
            </a:r>
            <a:r>
              <a:rPr lang="en-IN" sz="2500" dirty="0">
                <a:solidFill>
                  <a:srgbClr val="1F3864"/>
                </a:solidFill>
                <a:latin typeface="Times New Roman"/>
                <a:cs typeface="Times New Roman"/>
                <a:sym typeface="Times New Roman"/>
                <a:hlinkClick r:id="rId7">
                  <a:extLst>
                    <a:ext uri="{A12FA001-AC4F-418D-AE19-62706E023703}">
                      <ahyp:hlinkClr xmlns:ahyp="http://schemas.microsoft.com/office/drawing/2018/hyperlinkcolor" val="tx"/>
                    </a:ext>
                  </a:extLst>
                </a:hlinkClick>
              </a:rPr>
              <a:t>https://codeclimate.com/github/sanjaynayak1628/CEHD_Aggie_Educator_Portal</a:t>
            </a:r>
            <a:r>
              <a:rPr lang="en-IN" sz="2500" dirty="0">
                <a:solidFill>
                  <a:srgbClr val="1F3864"/>
                </a:solidFill>
                <a:latin typeface="Times New Roman"/>
                <a:cs typeface="Times New Roman"/>
                <a:sym typeface="Times New Roman"/>
              </a:rPr>
              <a:t> </a:t>
            </a:r>
          </a:p>
          <a:p>
            <a:pPr marL="342900" marR="0" lvl="0" indent="-184150" algn="just" rtl="0">
              <a:lnSpc>
                <a:spcPct val="100000"/>
              </a:lnSpc>
              <a:spcBef>
                <a:spcPts val="0"/>
              </a:spcBef>
              <a:spcAft>
                <a:spcPts val="0"/>
              </a:spcAft>
              <a:buClr>
                <a:srgbClr val="1F3864"/>
              </a:buClr>
              <a:buSzPts val="2500"/>
              <a:buFont typeface="Arial"/>
              <a:buNone/>
            </a:pPr>
            <a:endParaRPr sz="2500" b="0" i="0" u="none" strike="noStrike" cap="none" dirty="0">
              <a:solidFill>
                <a:srgbClr val="1F3864"/>
              </a:solidFill>
              <a:latin typeface="Times New Roman"/>
              <a:ea typeface="Times New Roman"/>
              <a:cs typeface="Times New Roman"/>
              <a:sym typeface="Times New Roman"/>
            </a:endParaRPr>
          </a:p>
        </p:txBody>
      </p:sp>
      <p:sp>
        <p:nvSpPr>
          <p:cNvPr id="84" name="Google Shape;84;p1"/>
          <p:cNvSpPr txBox="1"/>
          <p:nvPr/>
        </p:nvSpPr>
        <p:spPr>
          <a:xfrm>
            <a:off x="33664811" y="5693815"/>
            <a:ext cx="96948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u="sng" dirty="0">
                <a:solidFill>
                  <a:srgbClr val="1F3864"/>
                </a:solidFill>
                <a:latin typeface="Times New Roman"/>
                <a:cs typeface="Times New Roman"/>
                <a:sym typeface="Times New Roman"/>
              </a:rPr>
              <a:t>Email Functionality</a:t>
            </a:r>
            <a:endParaRPr sz="4000" b="0" i="0" u="sng" strike="noStrike" cap="none" dirty="0">
              <a:solidFill>
                <a:srgbClr val="000000"/>
              </a:solidFill>
              <a:latin typeface="Arial"/>
              <a:ea typeface="Arial"/>
              <a:cs typeface="Arial"/>
              <a:sym typeface="Arial"/>
            </a:endParaRPr>
          </a:p>
        </p:txBody>
      </p:sp>
      <p:sp>
        <p:nvSpPr>
          <p:cNvPr id="87" name="Google Shape;87;p1"/>
          <p:cNvSpPr txBox="1"/>
          <p:nvPr/>
        </p:nvSpPr>
        <p:spPr>
          <a:xfrm>
            <a:off x="22629709" y="6646830"/>
            <a:ext cx="9606000" cy="2554505"/>
          </a:xfrm>
          <a:prstGeom prst="rect">
            <a:avLst/>
          </a:prstGeom>
          <a:noFill/>
          <a:ln>
            <a:noFill/>
          </a:ln>
        </p:spPr>
        <p:txBody>
          <a:bodyPr spcFirstLastPara="1" wrap="square" lIns="91425" tIns="45700" rIns="91425" bIns="45700" anchor="t" anchorCtr="0">
            <a:spAutoFit/>
          </a:bodyPr>
          <a:lstStyle/>
          <a:p>
            <a:pPr algn="just">
              <a:buClr>
                <a:srgbClr val="1F3864"/>
              </a:buClr>
              <a:buSzPts val="2500"/>
            </a:pPr>
            <a:r>
              <a:rPr lang="en-US" sz="3200" dirty="0">
                <a:solidFill>
                  <a:srgbClr val="1F3864"/>
                </a:solidFill>
                <a:latin typeface="Times New Roman"/>
                <a:cs typeface="Times New Roman"/>
                <a:sym typeface="Times New Roman"/>
              </a:rPr>
              <a:t>The coop teacher can view the current week timesheet that the student has submitted for the approval. The co-op teacher has flexibility to select start-date and end date , semester, semester year and student from the drop-down provided. </a:t>
            </a:r>
            <a:endParaRPr sz="3200" dirty="0">
              <a:solidFill>
                <a:srgbClr val="1F3864"/>
              </a:solidFill>
              <a:latin typeface="Times New Roman"/>
              <a:cs typeface="Times New Roman"/>
              <a:sym typeface="Times New Roman"/>
            </a:endParaRPr>
          </a:p>
        </p:txBody>
      </p:sp>
      <p:sp>
        <p:nvSpPr>
          <p:cNvPr id="4" name="Text Placeholder 3">
            <a:extLst>
              <a:ext uri="{FF2B5EF4-FFF2-40B4-BE49-F238E27FC236}">
                <a16:creationId xmlns:a16="http://schemas.microsoft.com/office/drawing/2014/main" id="{93E5B8D0-B85C-6E48-9978-16362A311E70}"/>
              </a:ext>
            </a:extLst>
          </p:cNvPr>
          <p:cNvSpPr>
            <a:spLocks noGrp="1"/>
          </p:cNvSpPr>
          <p:nvPr>
            <p:ph type="body" idx="17"/>
          </p:nvPr>
        </p:nvSpPr>
        <p:spPr>
          <a:xfrm>
            <a:off x="558069" y="16028499"/>
            <a:ext cx="9904673" cy="4293433"/>
          </a:xfrm>
        </p:spPr>
        <p:txBody>
          <a:bodyPr/>
          <a:lstStyle/>
          <a:p>
            <a:r>
              <a:rPr lang="en-US" sz="3200" dirty="0"/>
              <a:t>Tables already existing  in system on which we have dependency :</a:t>
            </a:r>
          </a:p>
          <a:p>
            <a:pPr marL="571500" indent="-342900">
              <a:buFont typeface="Arial" panose="020B0604020202020204" pitchFamily="34" charset="0"/>
              <a:buChar char="•"/>
            </a:pPr>
            <a:r>
              <a:rPr lang="en-US" sz="3200" dirty="0" err="1"/>
              <a:t>EPPProgram</a:t>
            </a:r>
            <a:endParaRPr lang="en-US" sz="3200" dirty="0"/>
          </a:p>
          <a:p>
            <a:pPr marL="571500" indent="-342900">
              <a:buFont typeface="Arial" panose="020B0604020202020204" pitchFamily="34" charset="0"/>
              <a:buChar char="•"/>
            </a:pPr>
            <a:r>
              <a:rPr lang="en-US" sz="3200" dirty="0" err="1"/>
              <a:t>EPPStudent</a:t>
            </a:r>
            <a:endParaRPr lang="en-US" sz="3200" dirty="0"/>
          </a:p>
          <a:p>
            <a:pPr marL="228600" indent="0"/>
            <a:r>
              <a:rPr lang="en-US" sz="3200" dirty="0"/>
              <a:t>Tables created for this application:</a:t>
            </a:r>
          </a:p>
          <a:p>
            <a:pPr marL="571500" indent="-342900">
              <a:buFont typeface="Arial" panose="020B0604020202020204" pitchFamily="34" charset="0"/>
              <a:buChar char="•"/>
            </a:pPr>
            <a:r>
              <a:rPr lang="en-US" sz="3200" dirty="0" err="1"/>
              <a:t>Student_Placements</a:t>
            </a:r>
            <a:endParaRPr lang="en-US" sz="3200" dirty="0"/>
          </a:p>
          <a:p>
            <a:pPr marL="571500" indent="-342900">
              <a:buFont typeface="Arial" panose="020B0604020202020204" pitchFamily="34" charset="0"/>
              <a:buChar char="•"/>
            </a:pPr>
            <a:r>
              <a:rPr lang="en-US" sz="3200" dirty="0" err="1"/>
              <a:t>Time_Logs</a:t>
            </a:r>
            <a:endParaRPr lang="en-US" sz="3200" dirty="0"/>
          </a:p>
        </p:txBody>
      </p:sp>
      <p:sp>
        <p:nvSpPr>
          <p:cNvPr id="6" name="Text Placeholder 5">
            <a:extLst>
              <a:ext uri="{FF2B5EF4-FFF2-40B4-BE49-F238E27FC236}">
                <a16:creationId xmlns:a16="http://schemas.microsoft.com/office/drawing/2014/main" id="{162C5AF4-ADF2-B04F-90E1-FBCB256396F0}"/>
              </a:ext>
            </a:extLst>
          </p:cNvPr>
          <p:cNvSpPr>
            <a:spLocks noGrp="1"/>
          </p:cNvSpPr>
          <p:nvPr>
            <p:ph type="body" idx="3"/>
          </p:nvPr>
        </p:nvSpPr>
        <p:spPr>
          <a:xfrm>
            <a:off x="349775" y="14987925"/>
            <a:ext cx="10228291" cy="843790"/>
          </a:xfrm>
        </p:spPr>
        <p:txBody>
          <a:bodyPr/>
          <a:lstStyle/>
          <a:p>
            <a:r>
              <a:rPr lang="en-US" dirty="0"/>
              <a:t>ER- Diagram</a:t>
            </a:r>
          </a:p>
        </p:txBody>
      </p:sp>
      <p:sp>
        <p:nvSpPr>
          <p:cNvPr id="7" name="TextBox 6">
            <a:extLst>
              <a:ext uri="{FF2B5EF4-FFF2-40B4-BE49-F238E27FC236}">
                <a16:creationId xmlns:a16="http://schemas.microsoft.com/office/drawing/2014/main" id="{791BF120-B201-5F42-8F67-8F832A0CAAA5}"/>
              </a:ext>
            </a:extLst>
          </p:cNvPr>
          <p:cNvSpPr txBox="1"/>
          <p:nvPr/>
        </p:nvSpPr>
        <p:spPr>
          <a:xfrm>
            <a:off x="531589" y="11440260"/>
            <a:ext cx="9957633" cy="3539430"/>
          </a:xfrm>
          <a:prstGeom prst="rect">
            <a:avLst/>
          </a:prstGeom>
          <a:noFill/>
        </p:spPr>
        <p:txBody>
          <a:bodyPr wrap="square" rtlCol="0">
            <a:spAutoFit/>
          </a:bodyPr>
          <a:lstStyle/>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GitHub </a:t>
            </a:r>
          </a:p>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Heroku </a:t>
            </a:r>
          </a:p>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AWS RDS </a:t>
            </a:r>
          </a:p>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Django REST Framework </a:t>
            </a:r>
          </a:p>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SMTP </a:t>
            </a:r>
          </a:p>
          <a:p>
            <a:pPr marL="457200" indent="-457200" algn="just" fontAlgn="base">
              <a:buClr>
                <a:srgbClr val="1F3864"/>
              </a:buClr>
              <a:buSzPts val="2500"/>
              <a:buFont typeface="Arial"/>
              <a:buAutoNum type="arabicPeriod"/>
            </a:pPr>
            <a:r>
              <a:rPr lang="en-IN" sz="3200" dirty="0" err="1">
                <a:solidFill>
                  <a:srgbClr val="1F3864"/>
                </a:solidFill>
                <a:latin typeface="Times New Roman"/>
                <a:cs typeface="Times New Roman"/>
              </a:rPr>
              <a:t>CodeClimate</a:t>
            </a:r>
            <a:r>
              <a:rPr lang="en-IN" sz="3200" dirty="0">
                <a:solidFill>
                  <a:srgbClr val="1F3864"/>
                </a:solidFill>
                <a:latin typeface="Times New Roman"/>
                <a:cs typeface="Times New Roman"/>
              </a:rPr>
              <a:t> </a:t>
            </a:r>
          </a:p>
          <a:p>
            <a:pPr marL="457200" indent="-457200" algn="just" fontAlgn="base">
              <a:buClr>
                <a:srgbClr val="1F3864"/>
              </a:buClr>
              <a:buSzPts val="2500"/>
              <a:buFont typeface="Arial"/>
              <a:buAutoNum type="arabicPeriod"/>
            </a:pPr>
            <a:r>
              <a:rPr lang="en-IN" sz="3200" dirty="0">
                <a:solidFill>
                  <a:srgbClr val="1F3864"/>
                </a:solidFill>
                <a:latin typeface="Times New Roman"/>
                <a:cs typeface="Times New Roman"/>
              </a:rPr>
              <a:t>Behave (Cucumber) </a:t>
            </a:r>
          </a:p>
        </p:txBody>
      </p:sp>
      <p:pic>
        <p:nvPicPr>
          <p:cNvPr id="12" name="Picture 11" descr="Diagram&#10;&#10;Description automatically generated">
            <a:extLst>
              <a:ext uri="{FF2B5EF4-FFF2-40B4-BE49-F238E27FC236}">
                <a16:creationId xmlns:a16="http://schemas.microsoft.com/office/drawing/2014/main" id="{0E753659-EFC0-124A-974B-C96AD67DDB6D}"/>
              </a:ext>
            </a:extLst>
          </p:cNvPr>
          <p:cNvPicPr>
            <a:picLocks noChangeAspect="1"/>
          </p:cNvPicPr>
          <p:nvPr/>
        </p:nvPicPr>
        <p:blipFill>
          <a:blip r:embed="rId8"/>
          <a:stretch>
            <a:fillRect/>
          </a:stretch>
        </p:blipFill>
        <p:spPr>
          <a:xfrm>
            <a:off x="793103" y="20518716"/>
            <a:ext cx="9644200" cy="11205884"/>
          </a:xfrm>
          <a:prstGeom prst="rect">
            <a:avLst/>
          </a:prstGeom>
        </p:spPr>
      </p:pic>
      <p:sp>
        <p:nvSpPr>
          <p:cNvPr id="14" name="TextBox 13">
            <a:extLst>
              <a:ext uri="{FF2B5EF4-FFF2-40B4-BE49-F238E27FC236}">
                <a16:creationId xmlns:a16="http://schemas.microsoft.com/office/drawing/2014/main" id="{14A1FBF3-D3E6-054D-B0B1-7463AA9FA40B}"/>
              </a:ext>
            </a:extLst>
          </p:cNvPr>
          <p:cNvSpPr txBox="1"/>
          <p:nvPr/>
        </p:nvSpPr>
        <p:spPr>
          <a:xfrm>
            <a:off x="23012400" y="5944268"/>
            <a:ext cx="8689864" cy="307777"/>
          </a:xfrm>
          <a:prstGeom prst="rect">
            <a:avLst/>
          </a:prstGeom>
          <a:noFill/>
        </p:spPr>
        <p:txBody>
          <a:bodyPr wrap="square" rtlCol="0">
            <a:spAutoFit/>
          </a:bodyPr>
          <a:lstStyle/>
          <a:p>
            <a:endParaRPr lang="en-US" dirty="0"/>
          </a:p>
        </p:txBody>
      </p:sp>
      <p:sp>
        <p:nvSpPr>
          <p:cNvPr id="92" name="Google Shape;63;p1">
            <a:extLst>
              <a:ext uri="{FF2B5EF4-FFF2-40B4-BE49-F238E27FC236}">
                <a16:creationId xmlns:a16="http://schemas.microsoft.com/office/drawing/2014/main" id="{DD8EF9EF-F784-6D4A-B7A5-5844D1E84E06}"/>
              </a:ext>
            </a:extLst>
          </p:cNvPr>
          <p:cNvSpPr txBox="1">
            <a:spLocks/>
          </p:cNvSpPr>
          <p:nvPr/>
        </p:nvSpPr>
        <p:spPr>
          <a:xfrm>
            <a:off x="22613964" y="5457935"/>
            <a:ext cx="9727500" cy="1179760"/>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800"/>
              </a:spcBef>
              <a:buSzPts val="4000"/>
            </a:pPr>
            <a:r>
              <a:rPr lang="en-US" sz="4000" u="sng" dirty="0"/>
              <a:t>V</a:t>
            </a:r>
            <a:r>
              <a:rPr lang="en-IN" sz="4000" u="sng" dirty="0" err="1"/>
              <a:t>iew</a:t>
            </a:r>
            <a:r>
              <a:rPr lang="en-IN" sz="4000" u="sng" dirty="0"/>
              <a:t> Timesheet - Coop Teacher</a:t>
            </a:r>
            <a:endParaRPr lang="en-US" sz="4000" u="sng" dirty="0"/>
          </a:p>
        </p:txBody>
      </p:sp>
      <p:sp>
        <p:nvSpPr>
          <p:cNvPr id="99" name="Google Shape;87;p1">
            <a:extLst>
              <a:ext uri="{FF2B5EF4-FFF2-40B4-BE49-F238E27FC236}">
                <a16:creationId xmlns:a16="http://schemas.microsoft.com/office/drawing/2014/main" id="{4B84B2B8-D590-A742-ACE6-89C68790D7EB}"/>
              </a:ext>
            </a:extLst>
          </p:cNvPr>
          <p:cNvSpPr txBox="1"/>
          <p:nvPr/>
        </p:nvSpPr>
        <p:spPr>
          <a:xfrm>
            <a:off x="22629709" y="15511627"/>
            <a:ext cx="9606000" cy="2554505"/>
          </a:xfrm>
          <a:prstGeom prst="rect">
            <a:avLst/>
          </a:prstGeom>
          <a:noFill/>
          <a:ln>
            <a:noFill/>
          </a:ln>
        </p:spPr>
        <p:txBody>
          <a:bodyPr spcFirstLastPara="1" wrap="square" lIns="91425" tIns="45700" rIns="91425" bIns="45700" anchor="t" anchorCtr="0">
            <a:spAutoFit/>
          </a:bodyPr>
          <a:lstStyle/>
          <a:p>
            <a:pPr algn="just">
              <a:buClr>
                <a:srgbClr val="1F3864"/>
              </a:buClr>
              <a:buSzPts val="2500"/>
            </a:pPr>
            <a:r>
              <a:rPr lang="en-US" sz="3200" dirty="0">
                <a:solidFill>
                  <a:srgbClr val="1F3864"/>
                </a:solidFill>
                <a:latin typeface="Times New Roman"/>
                <a:cs typeface="Times New Roman"/>
                <a:sym typeface="Times New Roman"/>
              </a:rPr>
              <a:t>The coop teacher can view and approve the current week timesheet that the student has submitted for the approval. The coop teacher has flexibility to select start-date and end date , semester, semester year and student from the drop-down provided.  </a:t>
            </a:r>
            <a:endParaRPr sz="3200" dirty="0">
              <a:solidFill>
                <a:srgbClr val="1F3864"/>
              </a:solidFill>
              <a:latin typeface="Times New Roman"/>
              <a:cs typeface="Times New Roman"/>
              <a:sym typeface="Times New Roman"/>
            </a:endParaRPr>
          </a:p>
        </p:txBody>
      </p:sp>
      <p:sp>
        <p:nvSpPr>
          <p:cNvPr id="100" name="Google Shape;63;p1">
            <a:extLst>
              <a:ext uri="{FF2B5EF4-FFF2-40B4-BE49-F238E27FC236}">
                <a16:creationId xmlns:a16="http://schemas.microsoft.com/office/drawing/2014/main" id="{4619538D-2801-6F41-B308-0D32B6606223}"/>
              </a:ext>
            </a:extLst>
          </p:cNvPr>
          <p:cNvSpPr txBox="1">
            <a:spLocks/>
          </p:cNvSpPr>
          <p:nvPr/>
        </p:nvSpPr>
        <p:spPr>
          <a:xfrm>
            <a:off x="22538584" y="14179207"/>
            <a:ext cx="9727500" cy="1179760"/>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800"/>
              </a:spcBef>
              <a:buSzPts val="4000"/>
            </a:pPr>
            <a:r>
              <a:rPr lang="en-US" sz="4000" u="sng" dirty="0"/>
              <a:t>Approve</a:t>
            </a:r>
            <a:r>
              <a:rPr lang="en-IN" sz="4000" u="sng" dirty="0"/>
              <a:t> Timesheet - Coop Teacher</a:t>
            </a:r>
            <a:endParaRPr lang="en-US" sz="4000" u="sng" dirty="0"/>
          </a:p>
        </p:txBody>
      </p:sp>
      <p:pic>
        <p:nvPicPr>
          <p:cNvPr id="101" name="Picture 100" descr="Graphical user interface, application&#10;&#10;Description automatically generated">
            <a:extLst>
              <a:ext uri="{FF2B5EF4-FFF2-40B4-BE49-F238E27FC236}">
                <a16:creationId xmlns:a16="http://schemas.microsoft.com/office/drawing/2014/main" id="{C337544E-AD83-134C-A5AD-84F11ECD46F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2740580" y="9553926"/>
            <a:ext cx="8872285" cy="4568325"/>
          </a:xfrm>
          <a:prstGeom prst="rect">
            <a:avLst/>
          </a:prstGeom>
        </p:spPr>
      </p:pic>
      <p:pic>
        <p:nvPicPr>
          <p:cNvPr id="102" name="Picture 101" descr="Graphical user interface, website&#10;&#10;Description automatically generated">
            <a:extLst>
              <a:ext uri="{FF2B5EF4-FFF2-40B4-BE49-F238E27FC236}">
                <a16:creationId xmlns:a16="http://schemas.microsoft.com/office/drawing/2014/main" id="{AB419FB2-E1E2-154E-82F6-B16BD4E77DD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588235" y="18275198"/>
            <a:ext cx="9435062" cy="5091097"/>
          </a:xfrm>
          <a:prstGeom prst="rect">
            <a:avLst/>
          </a:prstGeom>
        </p:spPr>
      </p:pic>
      <p:pic>
        <p:nvPicPr>
          <p:cNvPr id="103" name="Picture 102" descr="Graphical user interface&#10;&#10;Description automatically generated">
            <a:extLst>
              <a:ext uri="{FF2B5EF4-FFF2-40B4-BE49-F238E27FC236}">
                <a16:creationId xmlns:a16="http://schemas.microsoft.com/office/drawing/2014/main" id="{647181F8-CB4A-CF4C-8E10-E6148245C98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2710841" y="26974132"/>
            <a:ext cx="9435062" cy="4750468"/>
          </a:xfrm>
          <a:prstGeom prst="rect">
            <a:avLst/>
          </a:prstGeom>
        </p:spPr>
      </p:pic>
      <p:sp>
        <p:nvSpPr>
          <p:cNvPr id="17" name="TextBox 16">
            <a:extLst>
              <a:ext uri="{FF2B5EF4-FFF2-40B4-BE49-F238E27FC236}">
                <a16:creationId xmlns:a16="http://schemas.microsoft.com/office/drawing/2014/main" id="{AFF3EEED-B4E7-8440-82C6-2D206A23C879}"/>
              </a:ext>
            </a:extLst>
          </p:cNvPr>
          <p:cNvSpPr txBox="1"/>
          <p:nvPr/>
        </p:nvSpPr>
        <p:spPr>
          <a:xfrm>
            <a:off x="22728515" y="24835162"/>
            <a:ext cx="9408389" cy="2062103"/>
          </a:xfrm>
          <a:prstGeom prst="rect">
            <a:avLst/>
          </a:prstGeom>
          <a:noFill/>
        </p:spPr>
        <p:txBody>
          <a:bodyPr wrap="square" rtlCol="0">
            <a:spAutoFit/>
          </a:bodyPr>
          <a:lstStyle/>
          <a:p>
            <a:pPr algn="just"/>
            <a:r>
              <a:rPr lang="en-US" sz="3200" dirty="0">
                <a:solidFill>
                  <a:srgbClr val="1F3864"/>
                </a:solidFill>
                <a:latin typeface="Times New Roman"/>
                <a:cs typeface="Times New Roman"/>
                <a:sym typeface="Times New Roman"/>
              </a:rPr>
              <a:t>The supervisor can monitor the progress of the students under the coop teacher throughout the semester.  The </a:t>
            </a:r>
            <a:r>
              <a:rPr lang="en-IN" sz="3200" dirty="0">
                <a:solidFill>
                  <a:srgbClr val="1F3864"/>
                </a:solidFill>
                <a:latin typeface="Times New Roman"/>
                <a:cs typeface="Times New Roman"/>
                <a:sym typeface="Times New Roman"/>
              </a:rPr>
              <a:t>supervisor can </a:t>
            </a:r>
            <a:r>
              <a:rPr lang="en-IN" sz="3200" dirty="0">
                <a:solidFill>
                  <a:srgbClr val="1F3864"/>
                </a:solidFill>
                <a:latin typeface="Times New Roman"/>
                <a:cs typeface="Times New Roman"/>
              </a:rPr>
              <a:t> view time logs of all the timesheets submitted by students under all co-op teachers</a:t>
            </a:r>
            <a:r>
              <a:rPr lang="en-US" sz="3200" dirty="0">
                <a:solidFill>
                  <a:srgbClr val="1F3864"/>
                </a:solidFill>
                <a:latin typeface="Times New Roman"/>
                <a:cs typeface="Times New Roman"/>
              </a:rPr>
              <a:t>.</a:t>
            </a:r>
          </a:p>
        </p:txBody>
      </p:sp>
      <p:sp>
        <p:nvSpPr>
          <p:cNvPr id="18" name="TextBox 17">
            <a:extLst>
              <a:ext uri="{FF2B5EF4-FFF2-40B4-BE49-F238E27FC236}">
                <a16:creationId xmlns:a16="http://schemas.microsoft.com/office/drawing/2014/main" id="{9BE4EC72-C646-1946-98B4-883B43CA6209}"/>
              </a:ext>
            </a:extLst>
          </p:cNvPr>
          <p:cNvSpPr txBox="1"/>
          <p:nvPr/>
        </p:nvSpPr>
        <p:spPr>
          <a:xfrm>
            <a:off x="33542934" y="6646830"/>
            <a:ext cx="9303927" cy="3046988"/>
          </a:xfrm>
          <a:prstGeom prst="rect">
            <a:avLst/>
          </a:prstGeom>
          <a:noFill/>
        </p:spPr>
        <p:txBody>
          <a:bodyPr wrap="square" rtlCol="0">
            <a:spAutoFit/>
          </a:bodyPr>
          <a:lstStyle/>
          <a:p>
            <a:r>
              <a:rPr lang="en-US" sz="3200" dirty="0">
                <a:solidFill>
                  <a:srgbClr val="1F3864"/>
                </a:solidFill>
                <a:latin typeface="Times New Roman"/>
                <a:cs typeface="Times New Roman"/>
              </a:rPr>
              <a:t>Whenever the student submits the timesheet, the co-op teacher is notified via email to approve or reject the timesheet. And whenever the co-op teacher rejects or approves the timesheet, the student is notified via email to make changes and resubmit the updated timesheet if needed. </a:t>
            </a:r>
          </a:p>
        </p:txBody>
      </p:sp>
      <p:pic>
        <p:nvPicPr>
          <p:cNvPr id="104" name="Picture 103" descr="Graphical user interface, text, application, email&#10;&#10;Description automatically generated">
            <a:extLst>
              <a:ext uri="{FF2B5EF4-FFF2-40B4-BE49-F238E27FC236}">
                <a16:creationId xmlns:a16="http://schemas.microsoft.com/office/drawing/2014/main" id="{8B8944D4-9BC0-FB4C-8787-39B779C359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3499829" y="10127550"/>
            <a:ext cx="9687926" cy="2575537"/>
          </a:xfrm>
          <a:prstGeom prst="rect">
            <a:avLst/>
          </a:prstGeom>
        </p:spPr>
      </p:pic>
      <p:pic>
        <p:nvPicPr>
          <p:cNvPr id="105" name="Picture 104" descr="Graphical user interface, text, application, email&#10;&#10;Description automatically generated">
            <a:extLst>
              <a:ext uri="{FF2B5EF4-FFF2-40B4-BE49-F238E27FC236}">
                <a16:creationId xmlns:a16="http://schemas.microsoft.com/office/drawing/2014/main" id="{B27FEF48-2878-7D4E-859E-AF288E4015F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3581258" y="13124359"/>
            <a:ext cx="9525068" cy="3170098"/>
          </a:xfrm>
          <a:prstGeom prst="rect">
            <a:avLst/>
          </a:prstGeom>
        </p:spPr>
      </p:pic>
      <p:sp>
        <p:nvSpPr>
          <p:cNvPr id="36" name="Google Shape;63;p1">
            <a:extLst>
              <a:ext uri="{FF2B5EF4-FFF2-40B4-BE49-F238E27FC236}">
                <a16:creationId xmlns:a16="http://schemas.microsoft.com/office/drawing/2014/main" id="{6E2EA522-8F34-E74E-A54B-54FDD5E81CB2}"/>
              </a:ext>
            </a:extLst>
          </p:cNvPr>
          <p:cNvSpPr txBox="1">
            <a:spLocks/>
          </p:cNvSpPr>
          <p:nvPr/>
        </p:nvSpPr>
        <p:spPr>
          <a:xfrm>
            <a:off x="11612940" y="6550441"/>
            <a:ext cx="9727500" cy="1179760"/>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800"/>
              </a:spcBef>
              <a:buSzPts val="4000"/>
            </a:pPr>
            <a:r>
              <a:rPr lang="en-US" sz="4000" u="sng" dirty="0"/>
              <a:t>User Authentication</a:t>
            </a:r>
          </a:p>
        </p:txBody>
      </p:sp>
      <p:sp>
        <p:nvSpPr>
          <p:cNvPr id="40" name="Google Shape;44;p1">
            <a:extLst>
              <a:ext uri="{FF2B5EF4-FFF2-40B4-BE49-F238E27FC236}">
                <a16:creationId xmlns:a16="http://schemas.microsoft.com/office/drawing/2014/main" id="{6D84809D-CAF9-724F-B346-DE97C9529A65}"/>
              </a:ext>
            </a:extLst>
          </p:cNvPr>
          <p:cNvSpPr txBox="1">
            <a:spLocks/>
          </p:cNvSpPr>
          <p:nvPr/>
        </p:nvSpPr>
        <p:spPr>
          <a:xfrm>
            <a:off x="11440770" y="5670793"/>
            <a:ext cx="10048875" cy="754045"/>
          </a:xfrm>
          <a:prstGeom prst="rect">
            <a:avLst/>
          </a:prstGeom>
          <a:noFill/>
          <a:ln>
            <a:noFill/>
          </a:ln>
        </p:spPr>
        <p:txBody>
          <a:bodyPr spcFirstLastPara="1" wrap="square" lIns="91425" tIns="91425" rIns="91425" bIns="91425" anchor="ctr" anchorCtr="0">
            <a:spAutoFit/>
          </a:bodyPr>
          <a:lstStyle>
            <a:defPPr marR="0" lvl="0" algn="l" rtl="0">
              <a:lnSpc>
                <a:spcPct val="100000"/>
              </a:lnSpc>
              <a:spcBef>
                <a:spcPts val="0"/>
              </a:spcBef>
              <a:spcAft>
                <a:spcPts val="0"/>
              </a:spcAft>
            </a:defPPr>
            <a:lvl1pPr marL="457200" marR="0" lvl="0" indent="-228600" algn="ctr" rtl="0">
              <a:lnSpc>
                <a:spcPct val="100000"/>
              </a:lnSpc>
              <a:spcBef>
                <a:spcPts val="740"/>
              </a:spcBef>
              <a:spcAft>
                <a:spcPts val="0"/>
              </a:spcAft>
              <a:buClr>
                <a:srgbClr val="1F3864"/>
              </a:buClr>
              <a:buSzPts val="3700"/>
              <a:buFont typeface="Arial"/>
              <a:buNone/>
              <a:defRPr sz="3700" b="1" i="0" u="sng" strike="noStrike" cap="none">
                <a:solidFill>
                  <a:srgbClr val="1F3864"/>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0"/>
              </a:spcBef>
            </a:pPr>
            <a:r>
              <a:rPr lang="en-US" dirty="0"/>
              <a:t>FEATURES</a:t>
            </a:r>
          </a:p>
        </p:txBody>
      </p:sp>
      <p:sp>
        <p:nvSpPr>
          <p:cNvPr id="5" name="TextBox 4">
            <a:extLst>
              <a:ext uri="{FF2B5EF4-FFF2-40B4-BE49-F238E27FC236}">
                <a16:creationId xmlns:a16="http://schemas.microsoft.com/office/drawing/2014/main" id="{E81DDCCF-EC03-B14E-9F2A-7C459E904A47}"/>
              </a:ext>
            </a:extLst>
          </p:cNvPr>
          <p:cNvSpPr txBox="1"/>
          <p:nvPr/>
        </p:nvSpPr>
        <p:spPr>
          <a:xfrm>
            <a:off x="11794134" y="7683980"/>
            <a:ext cx="9365112" cy="1077218"/>
          </a:xfrm>
          <a:prstGeom prst="rect">
            <a:avLst/>
          </a:prstGeom>
          <a:noFill/>
        </p:spPr>
        <p:txBody>
          <a:bodyPr wrap="square" rtlCol="0">
            <a:spAutoFit/>
          </a:bodyPr>
          <a:lstStyle/>
          <a:p>
            <a:r>
              <a:rPr lang="en-IN" sz="3200" dirty="0">
                <a:solidFill>
                  <a:srgbClr val="1F3864"/>
                </a:solidFill>
                <a:latin typeface="Times New Roman"/>
                <a:cs typeface="Times New Roman"/>
              </a:rPr>
              <a:t>The user can login as a student, co-op teacher or supervisor with their credentials.</a:t>
            </a:r>
            <a:endParaRPr lang="en-US" sz="3200" dirty="0">
              <a:solidFill>
                <a:srgbClr val="1F3864"/>
              </a:solidFill>
              <a:latin typeface="Times New Roman"/>
              <a:cs typeface="Times New Roman"/>
            </a:endParaRPr>
          </a:p>
        </p:txBody>
      </p:sp>
      <p:pic>
        <p:nvPicPr>
          <p:cNvPr id="42" name="Picture 14" descr="Graphical user interface, text&#10;&#10;Description automatically generated">
            <a:extLst>
              <a:ext uri="{FF2B5EF4-FFF2-40B4-BE49-F238E27FC236}">
                <a16:creationId xmlns:a16="http://schemas.microsoft.com/office/drawing/2014/main" id="{B33E7C10-84DD-DE45-A283-88B96E9B8E81}"/>
              </a:ext>
            </a:extLst>
          </p:cNvPr>
          <p:cNvPicPr>
            <a:picLocks noChangeAspect="1"/>
          </p:cNvPicPr>
          <p:nvPr/>
        </p:nvPicPr>
        <p:blipFill rotWithShape="1">
          <a:blip r:embed="rId14"/>
          <a:srcRect r="181" b="49359"/>
          <a:stretch/>
        </p:blipFill>
        <p:spPr>
          <a:xfrm>
            <a:off x="11695277" y="8863741"/>
            <a:ext cx="9506314" cy="4407106"/>
          </a:xfrm>
          <a:prstGeom prst="rect">
            <a:avLst/>
          </a:prstGeom>
        </p:spPr>
      </p:pic>
      <p:sp>
        <p:nvSpPr>
          <p:cNvPr id="43" name="Google Shape;63;p1">
            <a:extLst>
              <a:ext uri="{FF2B5EF4-FFF2-40B4-BE49-F238E27FC236}">
                <a16:creationId xmlns:a16="http://schemas.microsoft.com/office/drawing/2014/main" id="{9FF0ECCE-60BC-B546-A383-D0CD8B92568D}"/>
              </a:ext>
            </a:extLst>
          </p:cNvPr>
          <p:cNvSpPr txBox="1">
            <a:spLocks/>
          </p:cNvSpPr>
          <p:nvPr/>
        </p:nvSpPr>
        <p:spPr>
          <a:xfrm>
            <a:off x="11612940" y="13532371"/>
            <a:ext cx="9727500" cy="1179760"/>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800"/>
              </a:spcBef>
              <a:buSzPts val="4000"/>
            </a:pPr>
            <a:r>
              <a:rPr lang="en-US" sz="4000" u="sng" dirty="0"/>
              <a:t>Submit </a:t>
            </a:r>
            <a:r>
              <a:rPr lang="en-IN" sz="4000" u="sng" dirty="0"/>
              <a:t>Timesheet - Student</a:t>
            </a:r>
            <a:endParaRPr lang="en-US" sz="4000" u="sng" dirty="0"/>
          </a:p>
        </p:txBody>
      </p:sp>
      <p:sp>
        <p:nvSpPr>
          <p:cNvPr id="45" name="TextBox 44">
            <a:extLst>
              <a:ext uri="{FF2B5EF4-FFF2-40B4-BE49-F238E27FC236}">
                <a16:creationId xmlns:a16="http://schemas.microsoft.com/office/drawing/2014/main" id="{D98591BC-BDFF-2148-A783-2E41E7727E6D}"/>
              </a:ext>
            </a:extLst>
          </p:cNvPr>
          <p:cNvSpPr txBox="1"/>
          <p:nvPr/>
        </p:nvSpPr>
        <p:spPr>
          <a:xfrm>
            <a:off x="11641196" y="14531826"/>
            <a:ext cx="9208570" cy="1569660"/>
          </a:xfrm>
          <a:prstGeom prst="rect">
            <a:avLst/>
          </a:prstGeom>
          <a:noFill/>
        </p:spPr>
        <p:txBody>
          <a:bodyPr wrap="square" rtlCol="0">
            <a:spAutoFit/>
          </a:bodyPr>
          <a:lstStyle/>
          <a:p>
            <a:r>
              <a:rPr lang="en-IN" sz="3200" dirty="0">
                <a:solidFill>
                  <a:srgbClr val="1F3864"/>
                </a:solidFill>
                <a:latin typeface="Times New Roman"/>
                <a:cs typeface="Times New Roman"/>
              </a:rPr>
              <a:t>The user can login as a student, co-op teacher or supervisor with their credentials.</a:t>
            </a:r>
            <a:endParaRPr lang="en-US" sz="3200" dirty="0">
              <a:solidFill>
                <a:srgbClr val="1F3864"/>
              </a:solidFill>
              <a:latin typeface="Times New Roman"/>
              <a:cs typeface="Times New Roman"/>
            </a:endParaRPr>
          </a:p>
          <a:p>
            <a:endParaRPr lang="en-US" sz="3200" dirty="0"/>
          </a:p>
        </p:txBody>
      </p:sp>
      <p:pic>
        <p:nvPicPr>
          <p:cNvPr id="50" name="Picture 49" descr="Graphical user interface, table&#10;&#10;Description automatically generated">
            <a:extLst>
              <a:ext uri="{FF2B5EF4-FFF2-40B4-BE49-F238E27FC236}">
                <a16:creationId xmlns:a16="http://schemas.microsoft.com/office/drawing/2014/main" id="{7FC71087-1D2D-444F-AD96-AF86AB8B3E0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589406" y="15772581"/>
            <a:ext cx="9626159" cy="5909334"/>
          </a:xfrm>
          <a:prstGeom prst="rect">
            <a:avLst/>
          </a:prstGeom>
        </p:spPr>
      </p:pic>
      <p:sp>
        <p:nvSpPr>
          <p:cNvPr id="58" name="Google Shape;63;p1">
            <a:extLst>
              <a:ext uri="{FF2B5EF4-FFF2-40B4-BE49-F238E27FC236}">
                <a16:creationId xmlns:a16="http://schemas.microsoft.com/office/drawing/2014/main" id="{F49CA341-EFE2-354E-960C-A38A674C6BC8}"/>
              </a:ext>
            </a:extLst>
          </p:cNvPr>
          <p:cNvSpPr txBox="1">
            <a:spLocks/>
          </p:cNvSpPr>
          <p:nvPr/>
        </p:nvSpPr>
        <p:spPr>
          <a:xfrm>
            <a:off x="11612940" y="22439910"/>
            <a:ext cx="9727500" cy="1179760"/>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1F3864"/>
              </a:buClr>
              <a:buSzPts val="2500"/>
              <a:buFont typeface="Arial"/>
              <a:buNone/>
              <a:defRPr sz="2500" b="0" i="0" u="none" strike="noStrike" cap="none">
                <a:solidFill>
                  <a:srgbClr val="1F3864"/>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800"/>
              </a:spcBef>
              <a:buSzPts val="4000"/>
            </a:pPr>
            <a:r>
              <a:rPr lang="en-US" sz="4000" u="sng" dirty="0"/>
              <a:t>View Submitted </a:t>
            </a:r>
            <a:r>
              <a:rPr lang="en-IN" sz="4000" u="sng" dirty="0"/>
              <a:t>Timesheet - Student</a:t>
            </a:r>
            <a:endParaRPr lang="en-US" sz="4000" u="sng" dirty="0"/>
          </a:p>
        </p:txBody>
      </p:sp>
      <p:sp>
        <p:nvSpPr>
          <p:cNvPr id="59" name="TextBox 58">
            <a:extLst>
              <a:ext uri="{FF2B5EF4-FFF2-40B4-BE49-F238E27FC236}">
                <a16:creationId xmlns:a16="http://schemas.microsoft.com/office/drawing/2014/main" id="{D711600E-FC28-114D-99EC-59596575C96E}"/>
              </a:ext>
            </a:extLst>
          </p:cNvPr>
          <p:cNvSpPr txBox="1"/>
          <p:nvPr/>
        </p:nvSpPr>
        <p:spPr>
          <a:xfrm>
            <a:off x="11794134" y="23586371"/>
            <a:ext cx="9208570" cy="1569660"/>
          </a:xfrm>
          <a:prstGeom prst="rect">
            <a:avLst/>
          </a:prstGeom>
          <a:noFill/>
        </p:spPr>
        <p:txBody>
          <a:bodyPr wrap="square" rtlCol="0">
            <a:spAutoFit/>
          </a:bodyPr>
          <a:lstStyle/>
          <a:p>
            <a:r>
              <a:rPr lang="en-US" sz="3200" dirty="0">
                <a:solidFill>
                  <a:srgbClr val="1F3864"/>
                </a:solidFill>
                <a:latin typeface="Times New Roman"/>
                <a:cs typeface="Times New Roman"/>
              </a:rPr>
              <a:t>The student can view the submitted timesheets and check approval status of the timesheets. The student can check previous submitted timesheets too.</a:t>
            </a:r>
          </a:p>
        </p:txBody>
      </p:sp>
      <p:pic>
        <p:nvPicPr>
          <p:cNvPr id="60" name="Picture 59" descr="Table&#10;&#10;Description automatically generated">
            <a:extLst>
              <a:ext uri="{FF2B5EF4-FFF2-40B4-BE49-F238E27FC236}">
                <a16:creationId xmlns:a16="http://schemas.microsoft.com/office/drawing/2014/main" id="{BFC492C9-C893-FB45-8BF8-18E47E033D5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735702" y="25521271"/>
            <a:ext cx="9416307" cy="5293342"/>
          </a:xfrm>
          <a:prstGeom prst="rect">
            <a:avLst/>
          </a:prstGeom>
        </p:spPr>
      </p:pic>
      <p:pic>
        <p:nvPicPr>
          <p:cNvPr id="61" name="Picture 60" descr="Graphical user interface, text, application, email&#10;&#10;Description automatically generated">
            <a:extLst>
              <a:ext uri="{FF2B5EF4-FFF2-40B4-BE49-F238E27FC236}">
                <a16:creationId xmlns:a16="http://schemas.microsoft.com/office/drawing/2014/main" id="{76E68130-0D70-7E49-97A8-745F95A94F6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3638331" y="16715729"/>
            <a:ext cx="9410923" cy="3065379"/>
          </a:xfrm>
          <a:prstGeom prst="rect">
            <a:avLst/>
          </a:prstGeom>
        </p:spPr>
      </p:pic>
    </p:spTree>
  </p:cSld>
  <p:clrMapOvr>
    <a:masterClrMapping/>
  </p:clrMapOvr>
</p:sld>
</file>

<file path=ppt/theme/theme1.xml><?xml version="1.0" encoding="utf-8"?>
<a:theme xmlns:a="http://schemas.openxmlformats.org/drawingml/2006/main" name="36x48-Template-V2b">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BDDCC065407F4880D81635D9DDA983" ma:contentTypeVersion="10" ma:contentTypeDescription="Create a new document." ma:contentTypeScope="" ma:versionID="eb435e3237d557e8257012034e4ffef3">
  <xsd:schema xmlns:xsd="http://www.w3.org/2001/XMLSchema" xmlns:xs="http://www.w3.org/2001/XMLSchema" xmlns:p="http://schemas.microsoft.com/office/2006/metadata/properties" xmlns:ns2="2e90bccd-4ad5-4d41-aeb5-12f35bab4bc9" xmlns:ns3="7d7d49d2-a2fe-442c-89e9-ad4ee20b0262" targetNamespace="http://schemas.microsoft.com/office/2006/metadata/properties" ma:root="true" ma:fieldsID="83a0d04c1f4092309f5e824619ca0a64" ns2:_="" ns3:_="">
    <xsd:import namespace="2e90bccd-4ad5-4d41-aeb5-12f35bab4bc9"/>
    <xsd:import namespace="7d7d49d2-a2fe-442c-89e9-ad4ee20b026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90bccd-4ad5-4d41-aeb5-12f35bab4b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28e5b72-a11e-43e4-996b-2cb2b326d1f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7d49d2-a2fe-442c-89e9-ad4ee20b026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5ecf0a9-0120-49cf-abdc-ff54a4d060a1}" ma:internalName="TaxCatchAll" ma:showField="CatchAllData" ma:web="7d7d49d2-a2fe-442c-89e9-ad4ee20b026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d7d49d2-a2fe-442c-89e9-ad4ee20b0262" xsi:nil="true"/>
    <lcf76f155ced4ddcb4097134ff3c332f xmlns="2e90bccd-4ad5-4d41-aeb5-12f35bab4bc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085AAB-0BA3-499C-ACA2-1E60C12F4FE6}"/>
</file>

<file path=customXml/itemProps2.xml><?xml version="1.0" encoding="utf-8"?>
<ds:datastoreItem xmlns:ds="http://schemas.openxmlformats.org/officeDocument/2006/customXml" ds:itemID="{F058EA25-1212-4C71-A28D-C4B1625B8A39}"/>
</file>

<file path=customXml/itemProps3.xml><?xml version="1.0" encoding="utf-8"?>
<ds:datastoreItem xmlns:ds="http://schemas.openxmlformats.org/officeDocument/2006/customXml" ds:itemID="{5D302968-5AE1-41E7-B1F7-C7581DA4FD29}"/>
</file>

<file path=docProps/app.xml><?xml version="1.0" encoding="utf-8"?>
<Properties xmlns="http://schemas.openxmlformats.org/officeDocument/2006/extended-properties" xmlns:vt="http://schemas.openxmlformats.org/officeDocument/2006/docPropsVTypes">
  <TotalTime>106</TotalTime>
  <Words>519</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Trebuchet MS</vt:lpstr>
      <vt:lpstr>Times New Roman</vt:lpstr>
      <vt:lpstr>Calibri</vt:lpstr>
      <vt:lpstr>Arial Black</vt:lpstr>
      <vt:lpstr>Arial</vt:lpstr>
      <vt:lpstr>36x48-Template-V2b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cp:lastModifiedBy>Patnaik, Sruti</cp:lastModifiedBy>
  <cp:revision>8</cp:revision>
  <dcterms:created xsi:type="dcterms:W3CDTF">2012-02-03T19:11:35Z</dcterms:created>
  <dcterms:modified xsi:type="dcterms:W3CDTF">2022-05-01T02:56:44Z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0x010100B6BDDCC065407F4880D81635D9DDA983</vt:lpwstr>
  </property>
</Properties>
</file>